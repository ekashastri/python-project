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71" r:id="rId4"/>
    <p:sldId id="261" r:id="rId5"/>
    <p:sldId id="260" r:id="rId6"/>
    <p:sldId id="276" r:id="rId7"/>
    <p:sldId id="263" r:id="rId8"/>
    <p:sldId id="264" r:id="rId9"/>
    <p:sldId id="277" r:id="rId10"/>
    <p:sldId id="27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A07276C2-7AD5-0EB8-E0E4-541E832A020A}">
          <p14:sldIdLst>
            <p14:sldId id="256"/>
            <p14:sldId id="258"/>
          </p14:sldIdLst>
        </p14:section>
        <p14:section name="Smart features" id="{66CA1E45-45A0-0802-4487-7403D295696D}">
          <p14:sldIdLst/>
        </p14:section>
        <p14:section name="Data &amp; UI" id="{E8E9A743-470D-8A3F-8583-C19AA3102E6B}">
          <p14:sldIdLst/>
        </p14:section>
        <p14:section name="Wrap-up" id="{521CBCAE-DD06-9C7C-D389-852B5D27BBEC}">
          <p14:sldIdLst>
            <p14:sldId id="271"/>
          </p14:sldIdLst>
        </p14:section>
        <p14:section name="Interaction" id="{0BE6762F-DD09-FE16-DB4F-724261018C50}">
          <p14:sldIdLst>
            <p14:sldId id="261"/>
            <p14:sldId id="260"/>
            <p14:sldId id="276"/>
            <p14:sldId id="263"/>
          </p14:sldIdLst>
        </p14:section>
        <p14:section name="Architecture" id="{E9F87D7F-ECD1-B694-EDD2-0963F206C7E5}">
          <p14:sldIdLst>
            <p14:sldId id="264"/>
            <p14:sldId id="277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Raw fingertip</c:v>
                </c:pt>
              </c:strCache>
            </c:strRef>
          </c:tx>
          <c:spPr>
            <a:ln w="38100" cap="flat">
              <a:solidFill>
                <a:srgbClr val="F2506A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Sheet1!$A$2:$A$49</c:f>
              <c:strCache>
                <c:ptCount val="4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</c:strCache>
            </c:strRef>
          </c:cat>
          <c:val>
            <c:numRef>
              <c:f>Sheet1!$B$2:$B$49</c:f>
              <c:numCache>
                <c:formatCode>General</c:formatCode>
                <c:ptCount val="48"/>
                <c:pt idx="0">
                  <c:v>39</c:v>
                </c:pt>
                <c:pt idx="1">
                  <c:v>63.5</c:v>
                </c:pt>
                <c:pt idx="2">
                  <c:v>53.8</c:v>
                </c:pt>
                <c:pt idx="3">
                  <c:v>56.1</c:v>
                </c:pt>
                <c:pt idx="4">
                  <c:v>71.2</c:v>
                </c:pt>
                <c:pt idx="5">
                  <c:v>70.2</c:v>
                </c:pt>
                <c:pt idx="6">
                  <c:v>68.599999999999994</c:v>
                </c:pt>
                <c:pt idx="7">
                  <c:v>80.2</c:v>
                </c:pt>
                <c:pt idx="8">
                  <c:v>82</c:v>
                </c:pt>
                <c:pt idx="9">
                  <c:v>78.5</c:v>
                </c:pt>
                <c:pt idx="10">
                  <c:v>82</c:v>
                </c:pt>
                <c:pt idx="11">
                  <c:v>80.8</c:v>
                </c:pt>
                <c:pt idx="12">
                  <c:v>83.9</c:v>
                </c:pt>
                <c:pt idx="13">
                  <c:v>69.8</c:v>
                </c:pt>
                <c:pt idx="14">
                  <c:v>70.599999999999994</c:v>
                </c:pt>
                <c:pt idx="15">
                  <c:v>75.3</c:v>
                </c:pt>
                <c:pt idx="16">
                  <c:v>72</c:v>
                </c:pt>
                <c:pt idx="17">
                  <c:v>54.2</c:v>
                </c:pt>
                <c:pt idx="18">
                  <c:v>64.2</c:v>
                </c:pt>
                <c:pt idx="19">
                  <c:v>55.4</c:v>
                </c:pt>
                <c:pt idx="20">
                  <c:v>61.1</c:v>
                </c:pt>
                <c:pt idx="21">
                  <c:v>54.3</c:v>
                </c:pt>
                <c:pt idx="22">
                  <c:v>35</c:v>
                </c:pt>
                <c:pt idx="23">
                  <c:v>39.5</c:v>
                </c:pt>
                <c:pt idx="24">
                  <c:v>44.7</c:v>
                </c:pt>
                <c:pt idx="25">
                  <c:v>36</c:v>
                </c:pt>
                <c:pt idx="26">
                  <c:v>32</c:v>
                </c:pt>
                <c:pt idx="27">
                  <c:v>28</c:v>
                </c:pt>
                <c:pt idx="28">
                  <c:v>33.299999999999997</c:v>
                </c:pt>
                <c:pt idx="29">
                  <c:v>31.9</c:v>
                </c:pt>
                <c:pt idx="30">
                  <c:v>19.3</c:v>
                </c:pt>
                <c:pt idx="31">
                  <c:v>18.399999999999999</c:v>
                </c:pt>
                <c:pt idx="32">
                  <c:v>30</c:v>
                </c:pt>
                <c:pt idx="33">
                  <c:v>20.100000000000001</c:v>
                </c:pt>
                <c:pt idx="34">
                  <c:v>18</c:v>
                </c:pt>
                <c:pt idx="35">
                  <c:v>23.6</c:v>
                </c:pt>
                <c:pt idx="36">
                  <c:v>29.4</c:v>
                </c:pt>
                <c:pt idx="37">
                  <c:v>29.9</c:v>
                </c:pt>
                <c:pt idx="38">
                  <c:v>47.8</c:v>
                </c:pt>
                <c:pt idx="39">
                  <c:v>43.4</c:v>
                </c:pt>
                <c:pt idx="40">
                  <c:v>51.4</c:v>
                </c:pt>
                <c:pt idx="41">
                  <c:v>59</c:v>
                </c:pt>
                <c:pt idx="42">
                  <c:v>45.3</c:v>
                </c:pt>
                <c:pt idx="43">
                  <c:v>54.1</c:v>
                </c:pt>
                <c:pt idx="44">
                  <c:v>64.400000000000006</c:v>
                </c:pt>
                <c:pt idx="45">
                  <c:v>66.900000000000006</c:v>
                </c:pt>
                <c:pt idx="46">
                  <c:v>68.2</c:v>
                </c:pt>
                <c:pt idx="47">
                  <c:v>66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89A-4293-B5CF-60723E2B08C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Smoothed</c:v>
                </c:pt>
              </c:strCache>
            </c:strRef>
          </c:tx>
          <c:spPr>
            <a:ln w="38100" cap="flat">
              <a:solidFill>
                <a:srgbClr val="2F7BF0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Sheet1!$A$2:$A$49</c:f>
              <c:strCache>
                <c:ptCount val="4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</c:strCache>
            </c:strRef>
          </c:cat>
          <c:val>
            <c:numRef>
              <c:f>Sheet1!$C$2:$C$49</c:f>
              <c:numCache>
                <c:formatCode>General</c:formatCode>
                <c:ptCount val="48"/>
                <c:pt idx="0">
                  <c:v>39</c:v>
                </c:pt>
                <c:pt idx="1">
                  <c:v>45.9</c:v>
                </c:pt>
                <c:pt idx="2">
                  <c:v>48.1</c:v>
                </c:pt>
                <c:pt idx="3">
                  <c:v>50.3</c:v>
                </c:pt>
                <c:pt idx="4">
                  <c:v>56.2</c:v>
                </c:pt>
                <c:pt idx="5">
                  <c:v>60.1</c:v>
                </c:pt>
                <c:pt idx="6">
                  <c:v>62.5</c:v>
                </c:pt>
                <c:pt idx="7">
                  <c:v>67.400000000000006</c:v>
                </c:pt>
                <c:pt idx="8">
                  <c:v>71.5</c:v>
                </c:pt>
                <c:pt idx="9">
                  <c:v>73.5</c:v>
                </c:pt>
                <c:pt idx="10">
                  <c:v>75.900000000000006</c:v>
                </c:pt>
                <c:pt idx="11">
                  <c:v>77.2</c:v>
                </c:pt>
                <c:pt idx="12">
                  <c:v>79.099999999999994</c:v>
                </c:pt>
                <c:pt idx="13">
                  <c:v>76.5</c:v>
                </c:pt>
                <c:pt idx="14">
                  <c:v>74.8</c:v>
                </c:pt>
                <c:pt idx="15">
                  <c:v>75</c:v>
                </c:pt>
                <c:pt idx="16">
                  <c:v>74.099999999999994</c:v>
                </c:pt>
                <c:pt idx="17">
                  <c:v>68.599999999999994</c:v>
                </c:pt>
                <c:pt idx="18">
                  <c:v>67.400000000000006</c:v>
                </c:pt>
                <c:pt idx="19">
                  <c:v>64</c:v>
                </c:pt>
                <c:pt idx="20">
                  <c:v>63.2</c:v>
                </c:pt>
                <c:pt idx="21">
                  <c:v>60.7</c:v>
                </c:pt>
                <c:pt idx="22">
                  <c:v>53.5</c:v>
                </c:pt>
                <c:pt idx="23">
                  <c:v>49.6</c:v>
                </c:pt>
                <c:pt idx="24">
                  <c:v>48.2</c:v>
                </c:pt>
                <c:pt idx="25">
                  <c:v>44.8</c:v>
                </c:pt>
                <c:pt idx="26">
                  <c:v>41.2</c:v>
                </c:pt>
                <c:pt idx="27">
                  <c:v>37.5</c:v>
                </c:pt>
                <c:pt idx="28">
                  <c:v>36.299999999999997</c:v>
                </c:pt>
                <c:pt idx="29">
                  <c:v>35.1</c:v>
                </c:pt>
                <c:pt idx="30">
                  <c:v>30.7</c:v>
                </c:pt>
                <c:pt idx="31">
                  <c:v>27.2</c:v>
                </c:pt>
                <c:pt idx="32">
                  <c:v>28</c:v>
                </c:pt>
                <c:pt idx="33">
                  <c:v>25.8</c:v>
                </c:pt>
                <c:pt idx="34">
                  <c:v>23.6</c:v>
                </c:pt>
                <c:pt idx="35">
                  <c:v>23.6</c:v>
                </c:pt>
                <c:pt idx="36">
                  <c:v>25.3</c:v>
                </c:pt>
                <c:pt idx="37">
                  <c:v>26.6</c:v>
                </c:pt>
                <c:pt idx="38">
                  <c:v>32.5</c:v>
                </c:pt>
                <c:pt idx="39">
                  <c:v>35.6</c:v>
                </c:pt>
                <c:pt idx="40">
                  <c:v>40</c:v>
                </c:pt>
                <c:pt idx="41">
                  <c:v>45.3</c:v>
                </c:pt>
                <c:pt idx="42">
                  <c:v>45.3</c:v>
                </c:pt>
                <c:pt idx="43">
                  <c:v>47.8</c:v>
                </c:pt>
                <c:pt idx="44">
                  <c:v>52.4</c:v>
                </c:pt>
                <c:pt idx="45">
                  <c:v>56.5</c:v>
                </c:pt>
                <c:pt idx="46">
                  <c:v>59.8</c:v>
                </c:pt>
                <c:pt idx="47">
                  <c:v>61.5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89A-4293-B5CF-60723E2B08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600">
              <a:solidFill>
                <a:srgbClr val="2A2F5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07248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Ekora lets you draw in the air. A webcam sees your hand, and your fingertip becomes a pen. It is my 2nd-year B.Tech Computer Engineering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webcam sees your hand, MediaPipe tracks it, and the index fingertip works as a pen. The project keeps to a few reliable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Python. The only outside install is the Tesseract OCR engine.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MediaPipe finds 21 landmarks on the hand. The index fingertip is used as the pen. Tracking runs on its own thread so drawing never waits for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to draw, pinch to move, fist to pause, peace sign for colour, open palm to clear. Note: the open palm clears the canvas after a short hold.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chart is an illustration, not measured data: a shaky fingertip path (red) and the smoothed result (blue). Ekora uses a One Euro filter, curve interpolation and spike trimming.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frame flows left to right. The event bus lets the parts talk without being tied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you. Happy to run a live demo: point to draw, pinch to move, fist to pause, peace sign for colour, open palm to clear.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3" name="Text 0"/>
          <p:cNvSpPr txBox="1"/>
          <p:nvPr/>
        </p:nvSpPr>
        <p:spPr>
          <a:xfrm>
            <a:off x="54864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Ekora  ·  Think. Sketch. Create.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737360"/>
            <a:ext cx="65836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6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6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108960"/>
            <a:ext cx="65836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600" dirty="0">
                <a:solidFill>
                  <a:schemeClr val="accent1"/>
                </a:solidFill>
              </a:defRPr>
            </a:lvl1pPr>
          </a:lstStyle>
          <a:p>
            <a:pPr marL="0" indent="0">
              <a:buNone/>
            </a:pPr>
            <a:endParaRPr lang="en-US" sz="2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62000" y="685800"/>
            <a:ext cx="6583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0" b="1" dirty="0">
                <a:solidFill>
                  <a:schemeClr val="bg1"/>
                </a:solidFill>
              </a:rPr>
              <a:t>Ekora</a:t>
            </a:r>
            <a:endParaRPr lang="en-US" sz="6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62000" y="201168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chemeClr val="accent1"/>
                </a:solidFill>
              </a:rPr>
              <a:t>Gesture-Controlled Drawing Workspace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7889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i="1" dirty="0">
                <a:solidFill>
                  <a:srgbClr val="FFCB5C"/>
                </a:solidFill>
              </a:rPr>
              <a:t>Think. Sketch. Create.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497580"/>
            <a:ext cx="6583680" cy="1623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bg2"/>
                </a:solidFill>
              </a:rPr>
              <a:t>Python Project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2"/>
                </a:solidFill>
              </a:rPr>
              <a:t>Eka Shastri | 70022500328 | U049</a:t>
            </a:r>
          </a:p>
          <a:p>
            <a:r>
              <a:rPr lang="en-US" sz="2400" dirty="0">
                <a:solidFill>
                  <a:schemeClr val="bg2"/>
                </a:solidFill>
              </a:rPr>
              <a:t>Rehanshi Kinge | 70022500442 | U099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44068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</a:rPr>
              <a:t>Python  ·  OpenCV  ·  MediaPipe  ·  NumPy </a:t>
            </a:r>
            <a:endParaRPr lang="en-US" sz="1600" dirty="0"/>
          </a:p>
        </p:txBody>
      </p:sp>
      <p:sp>
        <p:nvSpPr>
          <p:cNvPr id="7" name="Hero ring"/>
          <p:cNvSpPr/>
          <p:nvPr/>
        </p:nvSpPr>
        <p:spPr>
          <a:xfrm>
            <a:off x="7863840" y="1737360"/>
            <a:ext cx="3383280" cy="3383280"/>
          </a:xfrm>
          <a:prstGeom prst="ellipse">
            <a:avLst/>
          </a:prstGeom>
          <a:solidFill>
            <a:schemeClr val="tx2"/>
          </a:solidFill>
          <a:ln w="508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" name="Hero hand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0" y="2788920"/>
            <a:ext cx="1280160" cy="1280160"/>
          </a:xfrm>
          <a:prstGeom prst="rect">
            <a:avLst/>
          </a:prstGeom>
        </p:spPr>
      </p:pic>
      <p:sp>
        <p:nvSpPr>
          <p:cNvPr id="9" name="Hero triangle"/>
          <p:cNvSpPr/>
          <p:nvPr/>
        </p:nvSpPr>
        <p:spPr>
          <a:xfrm>
            <a:off x="10424160" y="1097280"/>
            <a:ext cx="1005840" cy="914400"/>
          </a:xfrm>
          <a:prstGeom prst="triangle">
            <a:avLst/>
          </a:prstGeom>
          <a:solidFill>
            <a:schemeClr val="tx1">
              <a:alpha val="0"/>
            </a:schemeClr>
          </a:solidFill>
          <a:ln w="4445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Hero rectangle"/>
          <p:cNvSpPr/>
          <p:nvPr/>
        </p:nvSpPr>
        <p:spPr>
          <a:xfrm>
            <a:off x="7315200" y="5029200"/>
            <a:ext cx="1188720" cy="868680"/>
          </a:xfrm>
          <a:prstGeom prst="rect">
            <a:avLst/>
          </a:prstGeom>
          <a:solidFill>
            <a:schemeClr val="tx1">
              <a:alpha val="0"/>
            </a:schemeClr>
          </a:solidFill>
          <a:ln w="4445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Hero circle"/>
          <p:cNvSpPr/>
          <p:nvPr/>
        </p:nvSpPr>
        <p:spPr>
          <a:xfrm>
            <a:off x="10515600" y="4754880"/>
            <a:ext cx="822960" cy="822960"/>
          </a:xfrm>
          <a:prstGeom prst="ellipse">
            <a:avLst/>
          </a:prstGeom>
          <a:solidFill>
            <a:schemeClr val="tx1">
              <a:alpha val="0"/>
            </a:schemeClr>
          </a:solidFill>
          <a:ln w="4445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4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89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232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259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31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361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8" presetClass="emph" presetSubtype="0" repeatCount="indefinite" fill="hold" grpId="1" nodeType="withEffect">
                                  <p:stCondLst>
                                    <p:cond delay="3300"/>
                                  </p:stCondLst>
                                  <p:childTnLst>
                                    <p:animRot by="21600000">
                                      <p:cBhvr>
                                        <p:cTn id="44" dur="9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5" presetID="8" presetClass="emph" presetSubtype="0" repeatCount="indefinite" fill="hold" grpId="1" nodeType="withEffect">
                                  <p:stCondLst>
                                    <p:cond delay="3730"/>
                                  </p:stCondLst>
                                  <p:childTnLst>
                                    <p:animRot by="21600000">
                                      <p:cBhvr>
                                        <p:cTn id="46" dur="1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7" presetID="8" presetClass="emph" presetSubtype="0" repeatCount="indefinite" fill="hold" grpId="1" nodeType="withEffect">
                                  <p:stCondLst>
                                    <p:cond delay="4160"/>
                                  </p:stCondLst>
                                  <p:childTnLst>
                                    <p:animRot by="21600000">
                                      <p:cBhvr>
                                        <p:cTn id="48" dur="7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What is Ekora?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50876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Draw in the air.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24028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tx2"/>
                </a:solidFill>
              </a:rPr>
              <a:t>A webcam tracks your hand and your fingertip becomes a pen on a digital canvas.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5661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Skills it brings together</a:t>
            </a:r>
            <a:endParaRPr lang="en-US" sz="1800" dirty="0"/>
          </a:p>
        </p:txBody>
      </p:sp>
      <p:sp>
        <p:nvSpPr>
          <p:cNvPr id="7" name="Chip Computer vision"/>
          <p:cNvSpPr/>
          <p:nvPr/>
        </p:nvSpPr>
        <p:spPr>
          <a:xfrm>
            <a:off x="548640" y="4069080"/>
            <a:ext cx="1828800" cy="43891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5"/>
          <p:cNvSpPr txBox="1"/>
          <p:nvPr/>
        </p:nvSpPr>
        <p:spPr>
          <a:xfrm>
            <a:off x="548640" y="406908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2"/>
                </a:solidFill>
              </a:rPr>
              <a:t>Computer vision</a:t>
            </a:r>
            <a:endParaRPr lang="en-US" sz="1500" dirty="0"/>
          </a:p>
        </p:txBody>
      </p:sp>
      <p:sp>
        <p:nvSpPr>
          <p:cNvPr id="9" name="Chip Gesture recognition"/>
          <p:cNvSpPr/>
          <p:nvPr/>
        </p:nvSpPr>
        <p:spPr>
          <a:xfrm>
            <a:off x="2514600" y="4069080"/>
            <a:ext cx="2194560" cy="43891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7"/>
          <p:cNvSpPr txBox="1"/>
          <p:nvPr/>
        </p:nvSpPr>
        <p:spPr>
          <a:xfrm>
            <a:off x="2514600" y="406908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2"/>
                </a:solidFill>
              </a:rPr>
              <a:t>Gesture recognition</a:t>
            </a:r>
            <a:endParaRPr lang="en-US" sz="1500" dirty="0"/>
          </a:p>
        </p:txBody>
      </p:sp>
      <p:sp>
        <p:nvSpPr>
          <p:cNvPr id="11" name="Chip Digital drawing"/>
          <p:cNvSpPr/>
          <p:nvPr/>
        </p:nvSpPr>
        <p:spPr>
          <a:xfrm>
            <a:off x="4846320" y="4069080"/>
            <a:ext cx="1737360" cy="43891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9"/>
          <p:cNvSpPr txBox="1"/>
          <p:nvPr/>
        </p:nvSpPr>
        <p:spPr>
          <a:xfrm>
            <a:off x="4846320" y="406908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2"/>
                </a:solidFill>
              </a:rPr>
              <a:t>Digital drawing</a:t>
            </a:r>
            <a:endParaRPr lang="en-US" sz="1500" dirty="0"/>
          </a:p>
        </p:txBody>
      </p:sp>
      <p:sp>
        <p:nvSpPr>
          <p:cNvPr id="13" name="Chip OCR"/>
          <p:cNvSpPr/>
          <p:nvPr/>
        </p:nvSpPr>
        <p:spPr>
          <a:xfrm>
            <a:off x="548640" y="4636008"/>
            <a:ext cx="822960" cy="43891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1"/>
          <p:cNvSpPr txBox="1"/>
          <p:nvPr/>
        </p:nvSpPr>
        <p:spPr>
          <a:xfrm>
            <a:off x="548640" y="4636008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2"/>
                </a:solidFill>
              </a:rPr>
              <a:t>OCR</a:t>
            </a:r>
            <a:endParaRPr lang="en-US" sz="1500" dirty="0"/>
          </a:p>
        </p:txBody>
      </p:sp>
      <p:sp>
        <p:nvSpPr>
          <p:cNvPr id="15" name="Chip AI integration"/>
          <p:cNvSpPr/>
          <p:nvPr/>
        </p:nvSpPr>
        <p:spPr>
          <a:xfrm>
            <a:off x="1508760" y="4636008"/>
            <a:ext cx="1645920" cy="43891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3"/>
          <p:cNvSpPr txBox="1"/>
          <p:nvPr/>
        </p:nvSpPr>
        <p:spPr>
          <a:xfrm>
            <a:off x="1508760" y="4636008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2"/>
                </a:solidFill>
              </a:rPr>
              <a:t>Plugin system</a:t>
            </a:r>
            <a:endParaRPr lang="en-US" sz="1500" dirty="0"/>
          </a:p>
        </p:txBody>
      </p:sp>
      <p:sp>
        <p:nvSpPr>
          <p:cNvPr id="17" name="Stat 21"/>
          <p:cNvSpPr/>
          <p:nvPr/>
        </p:nvSpPr>
        <p:spPr>
          <a:xfrm>
            <a:off x="7086600" y="1463040"/>
            <a:ext cx="2194560" cy="2103120"/>
          </a:xfrm>
          <a:prstGeom prst="roundRect">
            <a:avLst>
              <a:gd name="adj" fmla="val 5217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5"/>
          <p:cNvSpPr txBox="1"/>
          <p:nvPr/>
        </p:nvSpPr>
        <p:spPr>
          <a:xfrm>
            <a:off x="7315200" y="164592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5400" dirty="0"/>
          </a:p>
        </p:txBody>
      </p:sp>
      <p:sp>
        <p:nvSpPr>
          <p:cNvPr id="19" name="Text 16"/>
          <p:cNvSpPr txBox="1"/>
          <p:nvPr/>
        </p:nvSpPr>
        <p:spPr>
          <a:xfrm>
            <a:off x="7315200" y="265176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hand points tracked</a:t>
            </a:r>
            <a:endParaRPr lang="en-US" sz="1800" dirty="0"/>
          </a:p>
        </p:txBody>
      </p:sp>
      <p:sp>
        <p:nvSpPr>
          <p:cNvPr id="20" name="Stat 5"/>
          <p:cNvSpPr/>
          <p:nvPr/>
        </p:nvSpPr>
        <p:spPr>
          <a:xfrm>
            <a:off x="9418320" y="1463040"/>
            <a:ext cx="2194560" cy="2103120"/>
          </a:xfrm>
          <a:prstGeom prst="roundRect">
            <a:avLst>
              <a:gd name="adj" fmla="val 5217"/>
            </a:avLst>
          </a:prstGeom>
          <a:solidFill>
            <a:schemeClr val="accent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8"/>
          <p:cNvSpPr txBox="1"/>
          <p:nvPr/>
        </p:nvSpPr>
        <p:spPr>
          <a:xfrm>
            <a:off x="9646920" y="164592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5400" dirty="0"/>
          </a:p>
        </p:txBody>
      </p:sp>
      <p:sp>
        <p:nvSpPr>
          <p:cNvPr id="22" name="Text 19"/>
          <p:cNvSpPr txBox="1"/>
          <p:nvPr/>
        </p:nvSpPr>
        <p:spPr>
          <a:xfrm>
            <a:off x="9646920" y="265176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gestures</a:t>
            </a:r>
            <a:endParaRPr lang="en-US" sz="1800" dirty="0"/>
          </a:p>
        </p:txBody>
      </p:sp>
      <p:sp>
        <p:nvSpPr>
          <p:cNvPr id="23" name="Stat 7"/>
          <p:cNvSpPr/>
          <p:nvPr/>
        </p:nvSpPr>
        <p:spPr>
          <a:xfrm>
            <a:off x="7086600" y="3749040"/>
            <a:ext cx="2194560" cy="2103120"/>
          </a:xfrm>
          <a:prstGeom prst="roundRect">
            <a:avLst>
              <a:gd name="adj" fmla="val 5217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1"/>
          <p:cNvSpPr txBox="1"/>
          <p:nvPr/>
        </p:nvSpPr>
        <p:spPr>
          <a:xfrm>
            <a:off x="7315200" y="393192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400" dirty="0"/>
          </a:p>
        </p:txBody>
      </p:sp>
      <p:sp>
        <p:nvSpPr>
          <p:cNvPr id="25" name="Text 22"/>
          <p:cNvSpPr txBox="1"/>
          <p:nvPr/>
        </p:nvSpPr>
        <p:spPr>
          <a:xfrm>
            <a:off x="7315200" y="493776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camera modes</a:t>
            </a:r>
            <a:endParaRPr lang="en-US" sz="1800" dirty="0"/>
          </a:p>
        </p:txBody>
      </p:sp>
      <p:sp>
        <p:nvSpPr>
          <p:cNvPr id="26" name="Stat 3"/>
          <p:cNvSpPr/>
          <p:nvPr/>
        </p:nvSpPr>
        <p:spPr>
          <a:xfrm>
            <a:off x="9418320" y="3749040"/>
            <a:ext cx="2194560" cy="2103120"/>
          </a:xfrm>
          <a:prstGeom prst="roundRect">
            <a:avLst>
              <a:gd name="adj" fmla="val 5217"/>
            </a:avLst>
          </a:prstGeom>
          <a:solidFill>
            <a:schemeClr val="accent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4"/>
          <p:cNvSpPr txBox="1"/>
          <p:nvPr/>
        </p:nvSpPr>
        <p:spPr>
          <a:xfrm>
            <a:off x="9646920" y="393192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400" dirty="0"/>
          </a:p>
        </p:txBody>
      </p:sp>
      <p:sp>
        <p:nvSpPr>
          <p:cNvPr id="28" name="Text 25"/>
          <p:cNvSpPr txBox="1"/>
          <p:nvPr/>
        </p:nvSpPr>
        <p:spPr>
          <a:xfrm>
            <a:off x="9646920" y="493776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save / export formats</a:t>
            </a:r>
            <a:endParaRPr lang="en-US" sz="18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969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338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707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977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2076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2346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grpId="0" nodeType="withEffect">
                                  <p:stCondLst>
                                    <p:cond delay="2445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2715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2814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3084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3183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3453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3552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3822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3932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53" presetClass="entr" presetSubtype="16" fill="hold" grpId="0" nodeType="withEffect">
                                  <p:stCondLst>
                                    <p:cond delay="3921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4191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4301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429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456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467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50"/>
                                        <p:tgtEl>
                                          <p:spTgt spid="25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4659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4929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5039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/>
      <p:bldP spid="26" grpId="0" animBg="1"/>
      <p:bldP spid="27" grpId="0" animBg="1"/>
      <p:bldP spid="2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32615" y="466344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Libraries used, and where</a:t>
            </a:r>
            <a:endParaRPr lang="en-US" sz="3400" dirty="0"/>
          </a:p>
        </p:txBody>
      </p:sp>
      <p:sp>
        <p:nvSpPr>
          <p:cNvPr id="4" name="Tech Python 3"/>
          <p:cNvSpPr/>
          <p:nvPr/>
        </p:nvSpPr>
        <p:spPr>
          <a:xfrm>
            <a:off x="548640" y="1463040"/>
            <a:ext cx="35661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Disc Python 3"/>
          <p:cNvSpPr/>
          <p:nvPr/>
        </p:nvSpPr>
        <p:spPr>
          <a:xfrm>
            <a:off x="777240" y="18745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6" name="Icon Python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914" y="2006194"/>
            <a:ext cx="285293" cy="285293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508760" y="17556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Python 3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1508760" y="21945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main.py, app/, plugins/</a:t>
            </a:r>
            <a:endParaRPr lang="en-US" sz="1800" dirty="0"/>
          </a:p>
        </p:txBody>
      </p:sp>
      <p:sp>
        <p:nvSpPr>
          <p:cNvPr id="9" name="Tech OpenCV"/>
          <p:cNvSpPr/>
          <p:nvPr/>
        </p:nvSpPr>
        <p:spPr>
          <a:xfrm>
            <a:off x="4311396" y="1463040"/>
            <a:ext cx="35661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Disc OpenCV"/>
          <p:cNvSpPr/>
          <p:nvPr/>
        </p:nvSpPr>
        <p:spPr>
          <a:xfrm>
            <a:off x="4539996" y="187452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1" name="Icon OpenCV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1670" y="2006194"/>
            <a:ext cx="285293" cy="285293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271516" y="17556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OpenCV</a:t>
            </a:r>
            <a:endParaRPr lang="en-US" sz="2000" dirty="0"/>
          </a:p>
        </p:txBody>
      </p:sp>
      <p:sp>
        <p:nvSpPr>
          <p:cNvPr id="13" name="Text 8"/>
          <p:cNvSpPr txBox="1"/>
          <p:nvPr/>
        </p:nvSpPr>
        <p:spPr>
          <a:xfrm>
            <a:off x="5271516" y="21945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camera, canvas, UI, OCR prep</a:t>
            </a:r>
            <a:endParaRPr lang="en-US" sz="1800" dirty="0"/>
          </a:p>
        </p:txBody>
      </p:sp>
      <p:sp>
        <p:nvSpPr>
          <p:cNvPr id="14" name="Tech MediaPipe"/>
          <p:cNvSpPr/>
          <p:nvPr/>
        </p:nvSpPr>
        <p:spPr>
          <a:xfrm>
            <a:off x="8074152" y="1463040"/>
            <a:ext cx="35661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Disc MediaPipe"/>
          <p:cNvSpPr/>
          <p:nvPr/>
        </p:nvSpPr>
        <p:spPr>
          <a:xfrm>
            <a:off x="8302752" y="187452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6" name="Icon MediaPipe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4426" y="2006194"/>
            <a:ext cx="285293" cy="285293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9034272" y="17556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MediaPipe</a:t>
            </a:r>
            <a:endParaRPr lang="en-US" sz="2000" dirty="0"/>
          </a:p>
        </p:txBody>
      </p:sp>
      <p:sp>
        <p:nvSpPr>
          <p:cNvPr id="18" name="Text 12"/>
          <p:cNvSpPr txBox="1"/>
          <p:nvPr/>
        </p:nvSpPr>
        <p:spPr>
          <a:xfrm>
            <a:off x="9034272" y="21945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app/hand_tracker.py</a:t>
            </a:r>
            <a:endParaRPr lang="en-US" sz="1800" dirty="0"/>
          </a:p>
        </p:txBody>
      </p:sp>
      <p:sp>
        <p:nvSpPr>
          <p:cNvPr id="19" name="Tech NumPy"/>
          <p:cNvSpPr/>
          <p:nvPr/>
        </p:nvSpPr>
        <p:spPr>
          <a:xfrm>
            <a:off x="548640" y="3017520"/>
            <a:ext cx="35661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Disc NumPy"/>
          <p:cNvSpPr/>
          <p:nvPr/>
        </p:nvSpPr>
        <p:spPr>
          <a:xfrm>
            <a:off x="777240" y="3429000"/>
            <a:ext cx="548640" cy="548640"/>
          </a:xfrm>
          <a:prstGeom prst="ellipse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1" name="Icon NumPy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8914" y="3560674"/>
            <a:ext cx="285293" cy="285293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508760" y="33101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NumPy</a:t>
            </a:r>
            <a:endParaRPr lang="en-US" sz="2000" dirty="0"/>
          </a:p>
        </p:txBody>
      </p:sp>
      <p:sp>
        <p:nvSpPr>
          <p:cNvPr id="23" name="Text 16"/>
          <p:cNvSpPr txBox="1"/>
          <p:nvPr/>
        </p:nvSpPr>
        <p:spPr>
          <a:xfrm>
            <a:off x="1508760" y="37490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strokes, canvas arrays</a:t>
            </a:r>
            <a:endParaRPr lang="en-US" sz="1800" dirty="0"/>
          </a:p>
        </p:txBody>
      </p:sp>
      <p:sp>
        <p:nvSpPr>
          <p:cNvPr id="24" name="Tech Tesseract"/>
          <p:cNvSpPr/>
          <p:nvPr/>
        </p:nvSpPr>
        <p:spPr>
          <a:xfrm>
            <a:off x="4311396" y="3017520"/>
            <a:ext cx="35661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Disc Tesseract"/>
          <p:cNvSpPr/>
          <p:nvPr/>
        </p:nvSpPr>
        <p:spPr>
          <a:xfrm>
            <a:off x="4539996" y="34290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6" name="Icon Tesseract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1670" y="3560674"/>
            <a:ext cx="285293" cy="285293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5271516" y="33101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pytesseract</a:t>
            </a:r>
            <a:endParaRPr lang="en-US" sz="2000" dirty="0"/>
          </a:p>
        </p:txBody>
      </p:sp>
      <p:sp>
        <p:nvSpPr>
          <p:cNvPr id="28" name="Text 20"/>
          <p:cNvSpPr txBox="1"/>
          <p:nvPr/>
        </p:nvSpPr>
        <p:spPr>
          <a:xfrm>
            <a:off x="5271516" y="37490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providers.py (OCR)</a:t>
            </a:r>
            <a:endParaRPr lang="en-US" sz="1800" dirty="0"/>
          </a:p>
        </p:txBody>
      </p:sp>
      <p:sp>
        <p:nvSpPr>
          <p:cNvPr id="29" name="Tech Pillow"/>
          <p:cNvSpPr/>
          <p:nvPr/>
        </p:nvSpPr>
        <p:spPr>
          <a:xfrm>
            <a:off x="8074152" y="3017520"/>
            <a:ext cx="35661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Tech Gemini"/>
          <p:cNvSpPr/>
          <p:nvPr/>
        </p:nvSpPr>
        <p:spPr>
          <a:xfrm>
            <a:off x="548640" y="4572000"/>
            <a:ext cx="35661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Disc Gemini"/>
          <p:cNvSpPr/>
          <p:nvPr/>
        </p:nvSpPr>
        <p:spPr>
          <a:xfrm>
            <a:off x="777240" y="498348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6" name="Icon Gemini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8914" y="5115154"/>
            <a:ext cx="285293" cy="285293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1508760" y="48646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threading</a:t>
            </a:r>
            <a:endParaRPr lang="en-US" sz="2000" dirty="0"/>
          </a:p>
        </p:txBody>
      </p:sp>
      <p:sp>
        <p:nvSpPr>
          <p:cNvPr id="38" name="Text 28"/>
          <p:cNvSpPr txBox="1"/>
          <p:nvPr/>
        </p:nvSpPr>
        <p:spPr>
          <a:xfrm>
            <a:off x="1508760" y="5303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camera + tracker threads</a:t>
            </a:r>
            <a:endParaRPr lang="en-US" sz="1800" dirty="0"/>
          </a:p>
        </p:txBody>
      </p:sp>
      <p:sp>
        <p:nvSpPr>
          <p:cNvPr id="39" name="Tech python-dotenv"/>
          <p:cNvSpPr/>
          <p:nvPr/>
        </p:nvSpPr>
        <p:spPr>
          <a:xfrm>
            <a:off x="4311396" y="4572000"/>
            <a:ext cx="35661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Disc python-dotenv"/>
          <p:cNvSpPr/>
          <p:nvPr/>
        </p:nvSpPr>
        <p:spPr>
          <a:xfrm>
            <a:off x="4539996" y="4983480"/>
            <a:ext cx="548640" cy="548640"/>
          </a:xfrm>
          <a:prstGeom prst="ellipse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41" name="Icon python-dotenv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71670" y="5115154"/>
            <a:ext cx="285293" cy="285293"/>
          </a:xfrm>
          <a:prstGeom prst="rect">
            <a:avLst/>
          </a:prstGeom>
        </p:spPr>
      </p:pic>
      <p:sp>
        <p:nvSpPr>
          <p:cNvPr id="42" name="Text 31"/>
          <p:cNvSpPr txBox="1"/>
          <p:nvPr/>
        </p:nvSpPr>
        <p:spPr>
          <a:xfrm>
            <a:off x="5271516" y="48646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json</a:t>
            </a:r>
            <a:endParaRPr lang="en-US" sz="2000" dirty="0"/>
          </a:p>
        </p:txBody>
      </p:sp>
      <p:sp>
        <p:nvSpPr>
          <p:cNvPr id="43" name="Text 32"/>
          <p:cNvSpPr txBox="1"/>
          <p:nvPr/>
        </p:nvSpPr>
        <p:spPr>
          <a:xfrm>
            <a:off x="5271516" y="5303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settings, .ekora save</a:t>
            </a:r>
            <a:endParaRPr lang="en-US" sz="1800" dirty="0"/>
          </a:p>
        </p:txBody>
      </p:sp>
      <p:sp>
        <p:nvSpPr>
          <p:cNvPr id="44" name="Tech tkinter"/>
          <p:cNvSpPr/>
          <p:nvPr/>
        </p:nvSpPr>
        <p:spPr>
          <a:xfrm>
            <a:off x="8074152" y="4572000"/>
            <a:ext cx="35661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5" name="Disc tkinter"/>
          <p:cNvSpPr/>
          <p:nvPr/>
        </p:nvSpPr>
        <p:spPr>
          <a:xfrm>
            <a:off x="8302752" y="49834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46" name="Icon tkinter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34426" y="5115154"/>
            <a:ext cx="285293" cy="285293"/>
          </a:xfrm>
          <a:prstGeom prst="rect">
            <a:avLst/>
          </a:prstGeom>
        </p:spPr>
      </p:pic>
      <p:sp>
        <p:nvSpPr>
          <p:cNvPr id="47" name="Text 35"/>
          <p:cNvSpPr txBox="1"/>
          <p:nvPr/>
        </p:nvSpPr>
        <p:spPr>
          <a:xfrm>
            <a:off x="9034272" y="48646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tkinter</a:t>
            </a:r>
            <a:endParaRPr lang="en-US" sz="2000" dirty="0"/>
          </a:p>
        </p:txBody>
      </p:sp>
      <p:sp>
        <p:nvSpPr>
          <p:cNvPr id="48" name="Text 36"/>
          <p:cNvSpPr txBox="1"/>
          <p:nvPr/>
        </p:nvSpPr>
        <p:spPr>
          <a:xfrm>
            <a:off x="9034272" y="5303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open/save, OCR preview</a:t>
            </a:r>
            <a:endParaRPr lang="en-US" sz="18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  <p:sp>
        <p:nvSpPr>
          <p:cNvPr id="53" name="Text 8">
            <a:extLst>
              <a:ext uri="{FF2B5EF4-FFF2-40B4-BE49-F238E27FC236}">
                <a16:creationId xmlns:a16="http://schemas.microsoft.com/office/drawing/2014/main" id="{FE30CBAB-5EFD-C8B8-B02C-FBAB31FAE6D3}"/>
              </a:ext>
            </a:extLst>
          </p:cNvPr>
          <p:cNvSpPr txBox="1"/>
          <p:nvPr/>
        </p:nvSpPr>
        <p:spPr>
          <a:xfrm>
            <a:off x="8990076" y="3768945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55" name="Tech MediaPipe">
            <a:extLst>
              <a:ext uri="{FF2B5EF4-FFF2-40B4-BE49-F238E27FC236}">
                <a16:creationId xmlns:a16="http://schemas.microsoft.com/office/drawing/2014/main" id="{87981C25-4609-226F-706D-7DE3053232F3}"/>
              </a:ext>
            </a:extLst>
          </p:cNvPr>
          <p:cNvSpPr/>
          <p:nvPr/>
        </p:nvSpPr>
        <p:spPr>
          <a:xfrm>
            <a:off x="8051902" y="3017520"/>
            <a:ext cx="35661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6" name="Disc MediaPipe">
            <a:extLst>
              <a:ext uri="{FF2B5EF4-FFF2-40B4-BE49-F238E27FC236}">
                <a16:creationId xmlns:a16="http://schemas.microsoft.com/office/drawing/2014/main" id="{E9FF9C1C-BBEA-B226-8EDE-64C574A9133B}"/>
              </a:ext>
            </a:extLst>
          </p:cNvPr>
          <p:cNvSpPr/>
          <p:nvPr/>
        </p:nvSpPr>
        <p:spPr>
          <a:xfrm>
            <a:off x="8280502" y="342900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57" name="Icon MediaPipe" descr="preencoded.png">
            <a:extLst>
              <a:ext uri="{FF2B5EF4-FFF2-40B4-BE49-F238E27FC236}">
                <a16:creationId xmlns:a16="http://schemas.microsoft.com/office/drawing/2014/main" id="{3AC05397-38C9-0220-DD50-930C2AECED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176" y="3560674"/>
            <a:ext cx="285293" cy="285293"/>
          </a:xfrm>
          <a:prstGeom prst="rect">
            <a:avLst/>
          </a:prstGeom>
        </p:spPr>
      </p:pic>
      <p:sp>
        <p:nvSpPr>
          <p:cNvPr id="58" name="Text 11">
            <a:extLst>
              <a:ext uri="{FF2B5EF4-FFF2-40B4-BE49-F238E27FC236}">
                <a16:creationId xmlns:a16="http://schemas.microsoft.com/office/drawing/2014/main" id="{FE8AAA79-3EC3-3FFB-885C-DD5FFE30355D}"/>
              </a:ext>
            </a:extLst>
          </p:cNvPr>
          <p:cNvSpPr txBox="1"/>
          <p:nvPr/>
        </p:nvSpPr>
        <p:spPr>
          <a:xfrm>
            <a:off x="8990076" y="314877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MediaPipe</a:t>
            </a:r>
            <a:endParaRPr lang="en-US" sz="2000" dirty="0"/>
          </a:p>
        </p:txBody>
      </p:sp>
      <p:sp>
        <p:nvSpPr>
          <p:cNvPr id="59" name="Text 12">
            <a:extLst>
              <a:ext uri="{FF2B5EF4-FFF2-40B4-BE49-F238E27FC236}">
                <a16:creationId xmlns:a16="http://schemas.microsoft.com/office/drawing/2014/main" id="{F7AA1DCE-BABA-D1EF-585B-A806F097FC53}"/>
              </a:ext>
            </a:extLst>
          </p:cNvPr>
          <p:cNvSpPr txBox="1"/>
          <p:nvPr/>
        </p:nvSpPr>
        <p:spPr>
          <a:xfrm>
            <a:off x="8990076" y="344137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IN" dirty="0" err="1"/>
              <a:t>MediaPipe</a:t>
            </a:r>
            <a:r>
              <a:rPr lang="en-IN" dirty="0"/>
              <a:t> is a free, open-source library from Google</a:t>
            </a:r>
            <a:endParaRPr lang="en-US" sz="1800" dirty="0"/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87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4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4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09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nodeType="withEffect">
                                  <p:stCondLst>
                                    <p:cond delay="141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52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" presetClass="entr" presetSubtype="4" fill="hold" grpId="0" nodeType="withEffect">
                                  <p:stCondLst>
                                    <p:cond delay="146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173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nodeType="withEffect">
                                  <p:stCondLst>
                                    <p:cond delay="18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20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189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53" presetClass="entr" presetSubtype="16" fill="hold" grpId="0" nodeType="withEffect">
                                  <p:stCondLst>
                                    <p:cond delay="216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53" presetClass="entr" presetSubtype="16" fill="hold" nodeType="withEffect">
                                  <p:stCondLst>
                                    <p:cond delay="227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238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249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" presetClass="entr" presetSubtype="4" fill="hold" grpId="0" nodeType="withEffect">
                                  <p:stCondLst>
                                    <p:cond delay="232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53" presetClass="entr" presetSubtype="16" fill="hold" grpId="0" nodeType="withEffect" nodePh="1">
                                  <p:stCondLst>
                                    <p:cond delay="2590"/>
                                  </p:stCondLst>
                                  <p:endCondLst>
                                    <p:cond evt="begin" delay="0">
                                      <p:tn val="9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420" fill="hold"/>
                                        <p:tgtEl>
                                          <p:spTgt spid="25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420" fill="hold"/>
                                        <p:tgtEl>
                                          <p:spTgt spid="25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420"/>
                                        <p:tgtEl>
                                          <p:spTgt spid="25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53" presetClass="entr" presetSubtype="16" fill="hold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281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53" presetClass="entr" presetSubtype="16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5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" presetClass="entr" presetSubtype="4" fill="hold" grpId="0" nodeType="withEffect">
                                  <p:stCondLst>
                                    <p:cond delay="318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5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5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53" presetClass="entr" presetSubtype="16" fill="hold" grpId="0" nodeType="withEffect">
                                  <p:stCondLst>
                                    <p:cond delay="345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4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4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5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53" presetClass="entr" presetSubtype="16" fill="hold" nodeType="withEffect">
                                  <p:stCondLst>
                                    <p:cond delay="356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4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4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0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367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378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361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53" presetClass="entr" presetSubtype="16" fill="hold" grpId="0" nodeType="withEffect">
                                  <p:stCondLst>
                                    <p:cond delay="388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2" dur="4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4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4" dur="4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53" presetClass="entr" presetSubtype="16" fill="hold" nodeType="withEffect">
                                  <p:stCondLst>
                                    <p:cond delay="399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4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4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9" dur="4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grpId="0" nodeType="withEffect">
                                  <p:stCondLst>
                                    <p:cond delay="410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4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grpId="0" nodeType="withEffect">
                                  <p:stCondLst>
                                    <p:cond delay="421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4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2" presetClass="entr" presetSubtype="4" fill="hold" grpId="0" nodeType="withEffect">
                                  <p:stCondLst>
                                    <p:cond delay="404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8" dur="5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5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0" dur="5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53" presetClass="entr" presetSubtype="16" fill="hold" grpId="0" nodeType="withEffect">
                                  <p:stCondLst>
                                    <p:cond delay="431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3" dur="42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42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5" dur="42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53" presetClass="entr" presetSubtype="16" fill="hold" nodeType="withEffect">
                                  <p:stCondLst>
                                    <p:cond delay="442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8" dur="42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42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0" dur="42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10" presetClass="entr" presetSubtype="0" fill="hold" grpId="0" nodeType="withEffect">
                                  <p:stCondLst>
                                    <p:cond delay="453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4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10" presetClass="entr" presetSubtype="0" fill="hold" grpId="0" nodeType="withEffect">
                                  <p:stCondLst>
                                    <p:cond delay="464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4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10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4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2" presetClass="entr" presetSubtype="4" fill="hold" grpId="0" nodeType="withEffect">
                                  <p:stCondLst>
                                    <p:cond delay="146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2" dur="5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5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4" dur="5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53" presetClass="entr" presetSubtype="16" fill="hold" grpId="0" nodeType="withEffect">
                                  <p:stCondLst>
                                    <p:cond delay="173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7" dur="42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8" dur="42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9" dur="42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53" presetClass="entr" presetSubtype="16" fill="hold" nodeType="withEffect">
                                  <p:stCondLst>
                                    <p:cond delay="184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2" dur="42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42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4" dur="42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4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10" presetClass="entr" presetSubtype="0" fill="hold" grpId="0" nodeType="withEffect">
                                  <p:stCondLst>
                                    <p:cond delay="206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4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0" grpId="0" animBg="1"/>
      <p:bldP spid="22" grpId="0" animBg="1"/>
      <p:bldP spid="23" grpId="0" animBg="1"/>
      <p:bldP spid="24" grpId="0" animBg="1"/>
      <p:bldP spid="25" grpId="0"/>
      <p:bldP spid="27" grpId="0" animBg="1"/>
      <p:bldP spid="28" grpId="0" animBg="1"/>
      <p:bldP spid="29" grpId="0" animBg="1"/>
      <p:bldP spid="34" grpId="0" animBg="1"/>
      <p:bldP spid="35" grpId="0" animBg="1"/>
      <p:bldP spid="37" grpId="0" animBg="1"/>
      <p:bldP spid="38" grpId="0" animBg="1"/>
      <p:bldP spid="39" grpId="0" animBg="1"/>
      <p:bldP spid="40" grpId="0" animBg="1"/>
      <p:bldP spid="42" grpId="0" animBg="1"/>
      <p:bldP spid="43" grpId="0" animBg="1"/>
      <p:bldP spid="44" grpId="0" animBg="1"/>
      <p:bldP spid="45" grpId="0" animBg="1"/>
      <p:bldP spid="47" grpId="0" animBg="1"/>
      <p:bldP spid="48" grpId="0" animBg="1"/>
      <p:bldP spid="53" grpId="0" animBg="1"/>
      <p:bldP spid="55" grpId="0" animBg="1"/>
      <p:bldP spid="56" grpId="0" animBg="1"/>
      <p:bldP spid="58" grpId="0" animBg="1"/>
      <p:bldP spid="5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Tracking your hand</a:t>
            </a:r>
            <a:endParaRPr lang="en-US" sz="3400" dirty="0"/>
          </a:p>
        </p:txBody>
      </p:sp>
      <p:sp>
        <p:nvSpPr>
          <p:cNvPr id="4" name="Hand panel"/>
          <p:cNvSpPr/>
          <p:nvPr/>
        </p:nvSpPr>
        <p:spPr>
          <a:xfrm>
            <a:off x="548640" y="1463040"/>
            <a:ext cx="4206240" cy="4480560"/>
          </a:xfrm>
          <a:prstGeom prst="roundRect">
            <a:avLst>
              <a:gd name="adj" fmla="val 2609"/>
            </a:avLst>
          </a:prstGeom>
          <a:solidFill>
            <a:schemeClr val="tx1"/>
          </a:solidFill>
          <a:ln/>
        </p:spPr>
      </p:sp>
      <p:sp>
        <p:nvSpPr>
          <p:cNvPr id="5" name="Bone 0"/>
          <p:cNvSpPr/>
          <p:nvPr/>
        </p:nvSpPr>
        <p:spPr>
          <a:xfrm>
            <a:off x="2107692" y="4753051"/>
            <a:ext cx="544068" cy="463601"/>
          </a:xfrm>
          <a:prstGeom prst="line">
            <a:avLst/>
          </a:prstGeom>
          <a:noFill/>
          <a:ln w="38100">
            <a:solidFill>
              <a:srgbClr val="8FC1FF"/>
            </a:solidFill>
            <a:prstDash val="solid"/>
          </a:ln>
        </p:spPr>
      </p:sp>
      <p:sp>
        <p:nvSpPr>
          <p:cNvPr id="6" name="Bone 1"/>
          <p:cNvSpPr/>
          <p:nvPr/>
        </p:nvSpPr>
        <p:spPr>
          <a:xfrm>
            <a:off x="1755648" y="4253789"/>
            <a:ext cx="352044" cy="499262"/>
          </a:xfrm>
          <a:prstGeom prst="line">
            <a:avLst/>
          </a:prstGeom>
          <a:noFill/>
          <a:ln w="38100">
            <a:solidFill>
              <a:srgbClr val="8FC1FF"/>
            </a:solidFill>
            <a:prstDash val="solid"/>
          </a:ln>
        </p:spPr>
      </p:sp>
      <p:sp>
        <p:nvSpPr>
          <p:cNvPr id="7" name="Bone 2"/>
          <p:cNvSpPr/>
          <p:nvPr/>
        </p:nvSpPr>
        <p:spPr>
          <a:xfrm>
            <a:off x="1499616" y="3790188"/>
            <a:ext cx="256032" cy="463601"/>
          </a:xfrm>
          <a:prstGeom prst="line">
            <a:avLst/>
          </a:prstGeom>
          <a:noFill/>
          <a:ln w="38100">
            <a:solidFill>
              <a:srgbClr val="8FC1FF"/>
            </a:solidFill>
            <a:prstDash val="solid"/>
          </a:ln>
        </p:spPr>
      </p:sp>
      <p:sp>
        <p:nvSpPr>
          <p:cNvPr id="8" name="Bone 3"/>
          <p:cNvSpPr/>
          <p:nvPr/>
        </p:nvSpPr>
        <p:spPr>
          <a:xfrm>
            <a:off x="1307592" y="3362249"/>
            <a:ext cx="192024" cy="427939"/>
          </a:xfrm>
          <a:prstGeom prst="line">
            <a:avLst/>
          </a:prstGeom>
          <a:noFill/>
          <a:ln w="38100">
            <a:solidFill>
              <a:srgbClr val="8FC1FF"/>
            </a:solidFill>
            <a:prstDash val="solid"/>
          </a:ln>
        </p:spPr>
      </p:sp>
      <p:sp>
        <p:nvSpPr>
          <p:cNvPr id="9" name="Bone 4"/>
          <p:cNvSpPr/>
          <p:nvPr/>
        </p:nvSpPr>
        <p:spPr>
          <a:xfrm>
            <a:off x="2267712" y="3790188"/>
            <a:ext cx="384048" cy="1426464"/>
          </a:xfrm>
          <a:prstGeom prst="line">
            <a:avLst/>
          </a:prstGeom>
          <a:noFill/>
          <a:ln w="38100">
            <a:solidFill>
              <a:srgbClr val="8FC1FF"/>
            </a:solidFill>
            <a:prstDash val="solid"/>
          </a:ln>
        </p:spPr>
      </p:sp>
      <p:sp>
        <p:nvSpPr>
          <p:cNvPr id="10" name="Bone 5"/>
          <p:cNvSpPr/>
          <p:nvPr/>
        </p:nvSpPr>
        <p:spPr>
          <a:xfrm>
            <a:off x="2203704" y="3183941"/>
            <a:ext cx="64008" cy="606247"/>
          </a:xfrm>
          <a:prstGeom prst="line">
            <a:avLst/>
          </a:prstGeom>
          <a:noFill/>
          <a:ln w="38100">
            <a:solidFill>
              <a:srgbClr val="8FC1FF"/>
            </a:solidFill>
            <a:prstDash val="solid"/>
          </a:ln>
        </p:spPr>
      </p:sp>
      <p:sp>
        <p:nvSpPr>
          <p:cNvPr id="11" name="Bone 6"/>
          <p:cNvSpPr/>
          <p:nvPr/>
        </p:nvSpPr>
        <p:spPr>
          <a:xfrm>
            <a:off x="2171700" y="2720340"/>
            <a:ext cx="32004" cy="463601"/>
          </a:xfrm>
          <a:prstGeom prst="line">
            <a:avLst/>
          </a:prstGeom>
          <a:noFill/>
          <a:ln w="38100">
            <a:solidFill>
              <a:srgbClr val="8FC1FF"/>
            </a:solidFill>
            <a:prstDash val="solid"/>
          </a:ln>
        </p:spPr>
      </p:sp>
      <p:sp>
        <p:nvSpPr>
          <p:cNvPr id="12" name="Bone 7"/>
          <p:cNvSpPr/>
          <p:nvPr/>
        </p:nvSpPr>
        <p:spPr>
          <a:xfrm>
            <a:off x="2139696" y="2292401"/>
            <a:ext cx="32004" cy="427939"/>
          </a:xfrm>
          <a:prstGeom prst="line">
            <a:avLst/>
          </a:prstGeom>
          <a:noFill/>
          <a:ln w="38100">
            <a:solidFill>
              <a:srgbClr val="8FC1FF"/>
            </a:solidFill>
            <a:prstDash val="solid"/>
          </a:ln>
        </p:spPr>
      </p:sp>
      <p:sp>
        <p:nvSpPr>
          <p:cNvPr id="13" name="Bone 8"/>
          <p:cNvSpPr/>
          <p:nvPr/>
        </p:nvSpPr>
        <p:spPr>
          <a:xfrm>
            <a:off x="2651760" y="3683203"/>
            <a:ext cx="0" cy="1533449"/>
          </a:xfrm>
          <a:prstGeom prst="line">
            <a:avLst/>
          </a:prstGeom>
          <a:noFill/>
          <a:ln w="38100">
            <a:solidFill>
              <a:srgbClr val="8FC1FF"/>
            </a:solidFill>
            <a:prstDash val="solid"/>
          </a:ln>
        </p:spPr>
      </p:sp>
      <p:sp>
        <p:nvSpPr>
          <p:cNvPr id="14" name="Bone 9"/>
          <p:cNvSpPr/>
          <p:nvPr/>
        </p:nvSpPr>
        <p:spPr>
          <a:xfrm>
            <a:off x="2651760" y="3005633"/>
            <a:ext cx="0" cy="677570"/>
          </a:xfrm>
          <a:prstGeom prst="line">
            <a:avLst/>
          </a:prstGeom>
          <a:noFill/>
          <a:ln w="38100">
            <a:solidFill>
              <a:srgbClr val="8FC1FF"/>
            </a:solidFill>
            <a:prstDash val="solid"/>
          </a:ln>
        </p:spPr>
      </p:sp>
      <p:sp>
        <p:nvSpPr>
          <p:cNvPr id="15" name="Bone 10"/>
          <p:cNvSpPr/>
          <p:nvPr/>
        </p:nvSpPr>
        <p:spPr>
          <a:xfrm>
            <a:off x="2651760" y="2506370"/>
            <a:ext cx="0" cy="499262"/>
          </a:xfrm>
          <a:prstGeom prst="line">
            <a:avLst/>
          </a:prstGeom>
          <a:noFill/>
          <a:ln w="38100">
            <a:solidFill>
              <a:srgbClr val="8FC1FF"/>
            </a:solidFill>
            <a:prstDash val="solid"/>
          </a:ln>
        </p:spPr>
      </p:sp>
      <p:sp>
        <p:nvSpPr>
          <p:cNvPr id="16" name="Bone 11"/>
          <p:cNvSpPr/>
          <p:nvPr/>
        </p:nvSpPr>
        <p:spPr>
          <a:xfrm>
            <a:off x="2651760" y="2042770"/>
            <a:ext cx="0" cy="463601"/>
          </a:xfrm>
          <a:prstGeom prst="line">
            <a:avLst/>
          </a:prstGeom>
          <a:noFill/>
          <a:ln w="38100">
            <a:solidFill>
              <a:srgbClr val="8FC1FF"/>
            </a:solidFill>
            <a:prstDash val="solid"/>
          </a:ln>
        </p:spPr>
      </p:sp>
      <p:sp>
        <p:nvSpPr>
          <p:cNvPr id="17" name="Bone 12"/>
          <p:cNvSpPr/>
          <p:nvPr/>
        </p:nvSpPr>
        <p:spPr>
          <a:xfrm flipV="1">
            <a:off x="2651760" y="3790188"/>
            <a:ext cx="384048" cy="1426464"/>
          </a:xfrm>
          <a:prstGeom prst="line">
            <a:avLst/>
          </a:prstGeom>
          <a:noFill/>
          <a:ln w="38100">
            <a:solidFill>
              <a:srgbClr val="8FC1FF"/>
            </a:solidFill>
            <a:prstDash val="solid"/>
          </a:ln>
        </p:spPr>
      </p:sp>
      <p:sp>
        <p:nvSpPr>
          <p:cNvPr id="18" name="Bone 13"/>
          <p:cNvSpPr/>
          <p:nvPr/>
        </p:nvSpPr>
        <p:spPr>
          <a:xfrm flipV="1">
            <a:off x="3035808" y="3183941"/>
            <a:ext cx="64008" cy="606247"/>
          </a:xfrm>
          <a:prstGeom prst="line">
            <a:avLst/>
          </a:prstGeom>
          <a:noFill/>
          <a:ln w="38100">
            <a:solidFill>
              <a:srgbClr val="8FC1FF"/>
            </a:solidFill>
            <a:prstDash val="solid"/>
          </a:ln>
        </p:spPr>
      </p:sp>
      <p:sp>
        <p:nvSpPr>
          <p:cNvPr id="19" name="Bone 14"/>
          <p:cNvSpPr/>
          <p:nvPr/>
        </p:nvSpPr>
        <p:spPr>
          <a:xfrm flipV="1">
            <a:off x="3099816" y="2756002"/>
            <a:ext cx="32004" cy="427939"/>
          </a:xfrm>
          <a:prstGeom prst="line">
            <a:avLst/>
          </a:prstGeom>
          <a:noFill/>
          <a:ln w="38100">
            <a:solidFill>
              <a:srgbClr val="8FC1FF"/>
            </a:solidFill>
            <a:prstDash val="solid"/>
          </a:ln>
        </p:spPr>
      </p:sp>
      <p:sp>
        <p:nvSpPr>
          <p:cNvPr id="20" name="Bone 15"/>
          <p:cNvSpPr/>
          <p:nvPr/>
        </p:nvSpPr>
        <p:spPr>
          <a:xfrm flipV="1">
            <a:off x="3131820" y="2363724"/>
            <a:ext cx="32004" cy="392278"/>
          </a:xfrm>
          <a:prstGeom prst="line">
            <a:avLst/>
          </a:prstGeom>
          <a:noFill/>
          <a:ln w="38100">
            <a:solidFill>
              <a:srgbClr val="8FC1FF"/>
            </a:solidFill>
            <a:prstDash val="solid"/>
          </a:ln>
        </p:spPr>
      </p:sp>
      <p:sp>
        <p:nvSpPr>
          <p:cNvPr id="21" name="Bone 16"/>
          <p:cNvSpPr/>
          <p:nvPr/>
        </p:nvSpPr>
        <p:spPr>
          <a:xfrm flipV="1">
            <a:off x="2651760" y="4039819"/>
            <a:ext cx="736092" cy="1176833"/>
          </a:xfrm>
          <a:prstGeom prst="line">
            <a:avLst/>
          </a:prstGeom>
          <a:noFill/>
          <a:ln w="38100">
            <a:solidFill>
              <a:srgbClr val="8FC1FF"/>
            </a:solidFill>
            <a:prstDash val="solid"/>
          </a:ln>
        </p:spPr>
      </p:sp>
      <p:sp>
        <p:nvSpPr>
          <p:cNvPr id="22" name="Bone 17"/>
          <p:cNvSpPr/>
          <p:nvPr/>
        </p:nvSpPr>
        <p:spPr>
          <a:xfrm flipV="1">
            <a:off x="3387852" y="3540557"/>
            <a:ext cx="160020" cy="499262"/>
          </a:xfrm>
          <a:prstGeom prst="line">
            <a:avLst/>
          </a:prstGeom>
          <a:noFill/>
          <a:ln w="38100">
            <a:solidFill>
              <a:srgbClr val="8FC1FF"/>
            </a:solidFill>
            <a:prstDash val="solid"/>
          </a:ln>
        </p:spPr>
      </p:sp>
      <p:sp>
        <p:nvSpPr>
          <p:cNvPr id="23" name="Bone 18"/>
          <p:cNvSpPr/>
          <p:nvPr/>
        </p:nvSpPr>
        <p:spPr>
          <a:xfrm flipV="1">
            <a:off x="3547872" y="3183941"/>
            <a:ext cx="96012" cy="356616"/>
          </a:xfrm>
          <a:prstGeom prst="line">
            <a:avLst/>
          </a:prstGeom>
          <a:noFill/>
          <a:ln w="38100">
            <a:solidFill>
              <a:srgbClr val="8FC1FF"/>
            </a:solidFill>
            <a:prstDash val="solid"/>
          </a:ln>
        </p:spPr>
      </p:sp>
      <p:sp>
        <p:nvSpPr>
          <p:cNvPr id="24" name="Bone 19"/>
          <p:cNvSpPr/>
          <p:nvPr/>
        </p:nvSpPr>
        <p:spPr>
          <a:xfrm flipV="1">
            <a:off x="3643884" y="2862986"/>
            <a:ext cx="96012" cy="320954"/>
          </a:xfrm>
          <a:prstGeom prst="line">
            <a:avLst/>
          </a:prstGeom>
          <a:noFill/>
          <a:ln w="38100">
            <a:solidFill>
              <a:srgbClr val="8FC1FF"/>
            </a:solidFill>
            <a:prstDash val="solid"/>
          </a:ln>
        </p:spPr>
      </p:sp>
      <p:sp>
        <p:nvSpPr>
          <p:cNvPr id="25" name="Bone 20"/>
          <p:cNvSpPr/>
          <p:nvPr/>
        </p:nvSpPr>
        <p:spPr>
          <a:xfrm flipV="1">
            <a:off x="2267712" y="3683203"/>
            <a:ext cx="384048" cy="106985"/>
          </a:xfrm>
          <a:prstGeom prst="line">
            <a:avLst/>
          </a:prstGeom>
          <a:noFill/>
          <a:ln w="38100">
            <a:solidFill>
              <a:srgbClr val="8FC1FF"/>
            </a:solidFill>
            <a:prstDash val="solid"/>
          </a:ln>
        </p:spPr>
      </p:sp>
      <p:sp>
        <p:nvSpPr>
          <p:cNvPr id="26" name="Bone 21"/>
          <p:cNvSpPr/>
          <p:nvPr/>
        </p:nvSpPr>
        <p:spPr>
          <a:xfrm>
            <a:off x="2651760" y="3683203"/>
            <a:ext cx="384048" cy="106985"/>
          </a:xfrm>
          <a:prstGeom prst="line">
            <a:avLst/>
          </a:prstGeom>
          <a:noFill/>
          <a:ln w="38100">
            <a:solidFill>
              <a:srgbClr val="8FC1FF"/>
            </a:solidFill>
            <a:prstDash val="solid"/>
          </a:ln>
        </p:spPr>
      </p:sp>
      <p:sp>
        <p:nvSpPr>
          <p:cNvPr id="27" name="Bone 22"/>
          <p:cNvSpPr/>
          <p:nvPr/>
        </p:nvSpPr>
        <p:spPr>
          <a:xfrm>
            <a:off x="3035808" y="3790188"/>
            <a:ext cx="352044" cy="249631"/>
          </a:xfrm>
          <a:prstGeom prst="line">
            <a:avLst/>
          </a:prstGeom>
          <a:noFill/>
          <a:ln w="38100">
            <a:solidFill>
              <a:srgbClr val="8FC1FF"/>
            </a:solidFill>
            <a:prstDash val="solid"/>
          </a:ln>
        </p:spPr>
      </p:sp>
      <p:sp>
        <p:nvSpPr>
          <p:cNvPr id="28" name="Landmark 0"/>
          <p:cNvSpPr/>
          <p:nvPr/>
        </p:nvSpPr>
        <p:spPr>
          <a:xfrm>
            <a:off x="2587752" y="5152644"/>
            <a:ext cx="128016" cy="12801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9" name="Landmark 1"/>
          <p:cNvSpPr/>
          <p:nvPr/>
        </p:nvSpPr>
        <p:spPr>
          <a:xfrm>
            <a:off x="2043684" y="4689043"/>
            <a:ext cx="128016" cy="12801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0" name="Landmark 2"/>
          <p:cNvSpPr/>
          <p:nvPr/>
        </p:nvSpPr>
        <p:spPr>
          <a:xfrm>
            <a:off x="1691640" y="4189781"/>
            <a:ext cx="128016" cy="12801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1" name="Landmark 3"/>
          <p:cNvSpPr/>
          <p:nvPr/>
        </p:nvSpPr>
        <p:spPr>
          <a:xfrm>
            <a:off x="1435608" y="3726180"/>
            <a:ext cx="128016" cy="12801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2" name="Landmark 4"/>
          <p:cNvSpPr/>
          <p:nvPr/>
        </p:nvSpPr>
        <p:spPr>
          <a:xfrm>
            <a:off x="1243584" y="3298241"/>
            <a:ext cx="128016" cy="12801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3" name="Landmark 5"/>
          <p:cNvSpPr/>
          <p:nvPr/>
        </p:nvSpPr>
        <p:spPr>
          <a:xfrm>
            <a:off x="2203704" y="3726180"/>
            <a:ext cx="128016" cy="12801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4" name="Landmark 6"/>
          <p:cNvSpPr/>
          <p:nvPr/>
        </p:nvSpPr>
        <p:spPr>
          <a:xfrm>
            <a:off x="2139696" y="3119933"/>
            <a:ext cx="128016" cy="12801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5" name="Landmark 7"/>
          <p:cNvSpPr/>
          <p:nvPr/>
        </p:nvSpPr>
        <p:spPr>
          <a:xfrm>
            <a:off x="2107692" y="2656332"/>
            <a:ext cx="128016" cy="12801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6" name="Landmark 8"/>
          <p:cNvSpPr/>
          <p:nvPr/>
        </p:nvSpPr>
        <p:spPr>
          <a:xfrm>
            <a:off x="2029968" y="2182673"/>
            <a:ext cx="219456" cy="219456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37" name="Landmark 9"/>
          <p:cNvSpPr/>
          <p:nvPr/>
        </p:nvSpPr>
        <p:spPr>
          <a:xfrm>
            <a:off x="2587752" y="3619195"/>
            <a:ext cx="128016" cy="12801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8" name="Landmark 10"/>
          <p:cNvSpPr/>
          <p:nvPr/>
        </p:nvSpPr>
        <p:spPr>
          <a:xfrm>
            <a:off x="2587752" y="2941625"/>
            <a:ext cx="128016" cy="12801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9" name="Landmark 11"/>
          <p:cNvSpPr/>
          <p:nvPr/>
        </p:nvSpPr>
        <p:spPr>
          <a:xfrm>
            <a:off x="2587752" y="2442362"/>
            <a:ext cx="128016" cy="12801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40" name="Landmark 12"/>
          <p:cNvSpPr/>
          <p:nvPr/>
        </p:nvSpPr>
        <p:spPr>
          <a:xfrm>
            <a:off x="2587752" y="1978762"/>
            <a:ext cx="128016" cy="12801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41" name="Landmark 13"/>
          <p:cNvSpPr/>
          <p:nvPr/>
        </p:nvSpPr>
        <p:spPr>
          <a:xfrm>
            <a:off x="2971800" y="3726180"/>
            <a:ext cx="128016" cy="12801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42" name="Landmark 14"/>
          <p:cNvSpPr/>
          <p:nvPr/>
        </p:nvSpPr>
        <p:spPr>
          <a:xfrm>
            <a:off x="3035808" y="3119933"/>
            <a:ext cx="128016" cy="12801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43" name="Landmark 15"/>
          <p:cNvSpPr/>
          <p:nvPr/>
        </p:nvSpPr>
        <p:spPr>
          <a:xfrm>
            <a:off x="3067812" y="2691994"/>
            <a:ext cx="128016" cy="12801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44" name="Landmark 16"/>
          <p:cNvSpPr/>
          <p:nvPr/>
        </p:nvSpPr>
        <p:spPr>
          <a:xfrm>
            <a:off x="3099816" y="2299716"/>
            <a:ext cx="128016" cy="12801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45" name="Landmark 17"/>
          <p:cNvSpPr/>
          <p:nvPr/>
        </p:nvSpPr>
        <p:spPr>
          <a:xfrm>
            <a:off x="3323844" y="3975811"/>
            <a:ext cx="128016" cy="12801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46" name="Landmark 18"/>
          <p:cNvSpPr/>
          <p:nvPr/>
        </p:nvSpPr>
        <p:spPr>
          <a:xfrm>
            <a:off x="3483864" y="3476549"/>
            <a:ext cx="128016" cy="12801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47" name="Landmark 19"/>
          <p:cNvSpPr/>
          <p:nvPr/>
        </p:nvSpPr>
        <p:spPr>
          <a:xfrm>
            <a:off x="3579876" y="3119933"/>
            <a:ext cx="128016" cy="12801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48" name="Landmark 20"/>
          <p:cNvSpPr/>
          <p:nvPr/>
        </p:nvSpPr>
        <p:spPr>
          <a:xfrm>
            <a:off x="3675888" y="2798978"/>
            <a:ext cx="128016" cy="12801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49" name="Pen ring"/>
          <p:cNvSpPr/>
          <p:nvPr/>
        </p:nvSpPr>
        <p:spPr>
          <a:xfrm>
            <a:off x="1883664" y="2036369"/>
            <a:ext cx="512064" cy="512064"/>
          </a:xfrm>
          <a:prstGeom prst="ellipse">
            <a:avLst/>
          </a:prstGeom>
          <a:solidFill>
            <a:schemeClr val="tx1">
              <a:alpha val="0"/>
            </a:schemeClr>
          </a:solidFill>
          <a:ln w="31750">
            <a:solidFill>
              <a:schemeClr val="accent4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1737360" y="1554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CB5C"/>
                </a:solidFill>
              </a:rPr>
              <a:t>Index tip = pen</a:t>
            </a:r>
            <a:endParaRPr lang="en-US" sz="1400" dirty="0"/>
          </a:p>
        </p:txBody>
      </p:sp>
      <p:sp>
        <p:nvSpPr>
          <p:cNvPr id="51" name="Tracking step Capture"/>
          <p:cNvSpPr/>
          <p:nvPr/>
        </p:nvSpPr>
        <p:spPr>
          <a:xfrm>
            <a:off x="5029200" y="1463040"/>
            <a:ext cx="6611112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52" name="Disc Capture"/>
          <p:cNvSpPr/>
          <p:nvPr/>
        </p:nvSpPr>
        <p:spPr>
          <a:xfrm>
            <a:off x="5257800" y="166420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3" name="Icon Capture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9474" y="1795882"/>
            <a:ext cx="285293" cy="285293"/>
          </a:xfrm>
          <a:prstGeom prst="rect">
            <a:avLst/>
          </a:prstGeom>
        </p:spPr>
      </p:pic>
      <p:sp>
        <p:nvSpPr>
          <p:cNvPr id="54" name="Text 50"/>
          <p:cNvSpPr txBox="1"/>
          <p:nvPr/>
        </p:nvSpPr>
        <p:spPr>
          <a:xfrm>
            <a:off x="6035040" y="157276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Capture</a:t>
            </a:r>
            <a:endParaRPr lang="en-US" sz="2000" dirty="0"/>
          </a:p>
        </p:txBody>
      </p:sp>
      <p:sp>
        <p:nvSpPr>
          <p:cNvPr id="55" name="Text 51"/>
          <p:cNvSpPr txBox="1"/>
          <p:nvPr/>
        </p:nvSpPr>
        <p:spPr>
          <a:xfrm>
            <a:off x="6035040" y="19659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1280×720 camera, 30 FPS</a:t>
            </a:r>
            <a:endParaRPr lang="en-US" sz="1800" dirty="0"/>
          </a:p>
        </p:txBody>
      </p:sp>
      <p:sp>
        <p:nvSpPr>
          <p:cNvPr id="56" name="Tracking step Detect"/>
          <p:cNvSpPr/>
          <p:nvPr/>
        </p:nvSpPr>
        <p:spPr>
          <a:xfrm>
            <a:off x="5029200" y="2560320"/>
            <a:ext cx="6611112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57" name="Disc Detect"/>
          <p:cNvSpPr/>
          <p:nvPr/>
        </p:nvSpPr>
        <p:spPr>
          <a:xfrm>
            <a:off x="5257800" y="2761488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58" name="Icon Detect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9474" y="2893162"/>
            <a:ext cx="285293" cy="285293"/>
          </a:xfrm>
          <a:prstGeom prst="rect">
            <a:avLst/>
          </a:prstGeom>
        </p:spPr>
      </p:pic>
      <p:sp>
        <p:nvSpPr>
          <p:cNvPr id="59" name="Text 54"/>
          <p:cNvSpPr txBox="1"/>
          <p:nvPr/>
        </p:nvSpPr>
        <p:spPr>
          <a:xfrm>
            <a:off x="6035040" y="267004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Detect</a:t>
            </a:r>
            <a:endParaRPr lang="en-US" sz="2000" dirty="0"/>
          </a:p>
        </p:txBody>
      </p:sp>
      <p:sp>
        <p:nvSpPr>
          <p:cNvPr id="60" name="Text 55"/>
          <p:cNvSpPr txBox="1"/>
          <p:nvPr/>
        </p:nvSpPr>
        <p:spPr>
          <a:xfrm>
            <a:off x="6035040" y="30632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MediaPipe finds 21 points</a:t>
            </a:r>
            <a:endParaRPr lang="en-US" sz="1800" dirty="0"/>
          </a:p>
        </p:txBody>
      </p:sp>
      <p:sp>
        <p:nvSpPr>
          <p:cNvPr id="61" name="Tracking step Draw"/>
          <p:cNvSpPr/>
          <p:nvPr/>
        </p:nvSpPr>
        <p:spPr>
          <a:xfrm>
            <a:off x="5029200" y="3657600"/>
            <a:ext cx="6611112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62" name="Disc Draw"/>
          <p:cNvSpPr/>
          <p:nvPr/>
        </p:nvSpPr>
        <p:spPr>
          <a:xfrm>
            <a:off x="5257800" y="3858768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3" name="Icon Draw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9474" y="3990442"/>
            <a:ext cx="285293" cy="285293"/>
          </a:xfrm>
          <a:prstGeom prst="rect">
            <a:avLst/>
          </a:prstGeom>
        </p:spPr>
      </p:pic>
      <p:sp>
        <p:nvSpPr>
          <p:cNvPr id="64" name="Text 58"/>
          <p:cNvSpPr txBox="1"/>
          <p:nvPr/>
        </p:nvSpPr>
        <p:spPr>
          <a:xfrm>
            <a:off x="6035040" y="376732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Draw</a:t>
            </a:r>
            <a:endParaRPr lang="en-US" sz="2000" dirty="0"/>
          </a:p>
        </p:txBody>
      </p:sp>
      <p:sp>
        <p:nvSpPr>
          <p:cNvPr id="65" name="Text 59"/>
          <p:cNvSpPr txBox="1"/>
          <p:nvPr/>
        </p:nvSpPr>
        <p:spPr>
          <a:xfrm>
            <a:off x="6035040" y="41605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Index tip moves the pen</a:t>
            </a:r>
            <a:endParaRPr lang="en-US" sz="1800" dirty="0"/>
          </a:p>
        </p:txBody>
      </p:sp>
      <p:sp>
        <p:nvSpPr>
          <p:cNvPr id="66" name="Tracking stat 0.7"/>
          <p:cNvSpPr/>
          <p:nvPr/>
        </p:nvSpPr>
        <p:spPr>
          <a:xfrm>
            <a:off x="5029200" y="4846320"/>
            <a:ext cx="2130552" cy="1097280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/>
        </p:spPr>
      </p:sp>
      <p:sp>
        <p:nvSpPr>
          <p:cNvPr id="67" name="Text 61"/>
          <p:cNvSpPr txBox="1"/>
          <p:nvPr/>
        </p:nvSpPr>
        <p:spPr>
          <a:xfrm>
            <a:off x="5212080" y="491947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93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</a:t>
            </a:r>
            <a:endParaRPr lang="en-US" sz="3000" dirty="0"/>
          </a:p>
        </p:txBody>
      </p:sp>
      <p:sp>
        <p:nvSpPr>
          <p:cNvPr id="68" name="Text 62"/>
          <p:cNvSpPr txBox="1"/>
          <p:nvPr/>
        </p:nvSpPr>
        <p:spPr>
          <a:xfrm>
            <a:off x="5212080" y="5486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</a:rPr>
              <a:t>detect confidence</a:t>
            </a:r>
            <a:endParaRPr lang="en-US" sz="1500" dirty="0"/>
          </a:p>
        </p:txBody>
      </p:sp>
      <p:sp>
        <p:nvSpPr>
          <p:cNvPr id="69" name="Tracking stat 0.6"/>
          <p:cNvSpPr/>
          <p:nvPr/>
        </p:nvSpPr>
        <p:spPr>
          <a:xfrm>
            <a:off x="7269480" y="4846320"/>
            <a:ext cx="2130552" cy="1097280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/>
        </p:spPr>
      </p:sp>
      <p:sp>
        <p:nvSpPr>
          <p:cNvPr id="70" name="Text 64"/>
          <p:cNvSpPr txBox="1"/>
          <p:nvPr/>
        </p:nvSpPr>
        <p:spPr>
          <a:xfrm>
            <a:off x="7452360" y="491947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6FE0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</a:t>
            </a:r>
            <a:endParaRPr lang="en-US" sz="3000" dirty="0"/>
          </a:p>
        </p:txBody>
      </p:sp>
      <p:sp>
        <p:nvSpPr>
          <p:cNvPr id="71" name="Text 65"/>
          <p:cNvSpPr txBox="1"/>
          <p:nvPr/>
        </p:nvSpPr>
        <p:spPr>
          <a:xfrm>
            <a:off x="7452360" y="5486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</a:rPr>
              <a:t>track confidence</a:t>
            </a:r>
            <a:endParaRPr lang="en-US" sz="1500" dirty="0"/>
          </a:p>
        </p:txBody>
      </p:sp>
      <p:sp>
        <p:nvSpPr>
          <p:cNvPr id="72" name="Tracking stat ~3 MB"/>
          <p:cNvSpPr/>
          <p:nvPr/>
        </p:nvSpPr>
        <p:spPr>
          <a:xfrm>
            <a:off x="9509760" y="4846320"/>
            <a:ext cx="2130552" cy="1097280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/>
        </p:spPr>
      </p:sp>
      <p:sp>
        <p:nvSpPr>
          <p:cNvPr id="73" name="Text 67"/>
          <p:cNvSpPr txBox="1"/>
          <p:nvPr/>
        </p:nvSpPr>
        <p:spPr>
          <a:xfrm>
            <a:off x="9692640" y="491947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C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 MB</a:t>
            </a:r>
            <a:endParaRPr lang="en-US" sz="3000" dirty="0"/>
          </a:p>
        </p:txBody>
      </p:sp>
      <p:sp>
        <p:nvSpPr>
          <p:cNvPr id="74" name="Text 68"/>
          <p:cNvSpPr txBox="1"/>
          <p:nvPr/>
        </p:nvSpPr>
        <p:spPr>
          <a:xfrm>
            <a:off x="9692640" y="5486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</a:rPr>
              <a:t>model, cached</a:t>
            </a:r>
            <a:endParaRPr lang="en-US" sz="15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785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835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885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935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985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101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1035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1085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111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1135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116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1185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1235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 nodePh="1">
                                  <p:stCondLst>
                                    <p:cond delay="1285"/>
                                  </p:stCondLst>
                                  <p:endCondLst>
                                    <p:cond evt="begin" delay="0">
                                      <p:tn val="7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450"/>
                                        <p:tgtEl>
                                          <p:spTgt spid="25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131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1335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53" presetClass="entr" presetSubtype="16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53" presetClass="entr" presetSubtype="16" fill="hold" grpId="0" nodeType="withEffect">
                                  <p:stCondLst>
                                    <p:cond delay="1385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53" presetClass="entr" presetSubtype="16" fill="hold" grpId="0" nodeType="withEffect">
                                  <p:stCondLst>
                                    <p:cond delay="141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4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4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53" presetClass="entr" presetSubtype="16" fill="hold" grpId="0" nodeType="withEffect">
                                  <p:stCondLst>
                                    <p:cond delay="1435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4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4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53" presetClass="entr" presetSubtype="16" fill="hold" grpId="0" nodeType="withEffect">
                                  <p:stCondLst>
                                    <p:cond delay="146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4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4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53" presetClass="entr" presetSubtype="16" fill="hold" grpId="0" nodeType="withEffect">
                                  <p:stCondLst>
                                    <p:cond delay="1485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4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4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53" presetClass="entr" presetSubtype="16" fill="hold" grpId="0" nodeType="withEffect">
                                  <p:stCondLst>
                                    <p:cond delay="151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4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4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6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53" presetClass="entr" presetSubtype="16" fill="hold" grpId="0" nodeType="withEffect">
                                  <p:stCondLst>
                                    <p:cond delay="1535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4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4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53" presetClass="entr" presetSubtype="16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4" dur="4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4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6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53" presetClass="entr" presetSubtype="16" fill="hold" grpId="0" nodeType="withEffect">
                                  <p:stCondLst>
                                    <p:cond delay="1585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9" dur="4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4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1" dur="4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53" presetClass="entr" presetSubtype="16" fill="hold" grpId="0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4" dur="4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4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6" dur="4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53" presetClass="entr" presetSubtype="16" fill="hold" grpId="0" nodeType="withEffect">
                                  <p:stCondLst>
                                    <p:cond delay="1635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9" dur="4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4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1" dur="4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53" presetClass="entr" presetSubtype="16" fill="hold" grpId="0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4" dur="4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4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6" dur="4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53" presetClass="entr" presetSubtype="16" fill="hold" grpId="0" nodeType="withEffect">
                                  <p:stCondLst>
                                    <p:cond delay="1685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9" dur="4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4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1" dur="4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53" presetClass="entr" presetSubtype="16" fill="hold" grpId="0" nodeType="withEffect">
                                  <p:stCondLst>
                                    <p:cond delay="171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4" dur="4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4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6" dur="4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53" presetClass="entr" presetSubtype="16" fill="hold" grpId="0" nodeType="withEffect">
                                  <p:stCondLst>
                                    <p:cond delay="1735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9" dur="4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4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1" dur="42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53" presetClass="entr" presetSubtype="16" fill="hold" grpId="0" nodeType="with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4" dur="42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42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6" dur="42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53" presetClass="entr" presetSubtype="16" fill="hold" grpId="0" nodeType="withEffect">
                                  <p:stCondLst>
                                    <p:cond delay="1785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9" dur="42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42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1" dur="42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53" presetClass="entr" presetSubtype="16" fill="hold" grpId="0" nodeType="withEffect">
                                  <p:stCondLst>
                                    <p:cond delay="181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4" dur="42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42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6" dur="42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53" presetClass="entr" presetSubtype="16" fill="hold" grpId="0" nodeType="withEffect">
                                  <p:stCondLst>
                                    <p:cond delay="1835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9" dur="42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42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1" dur="42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53" presetClass="entr" presetSubtype="16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4" dur="42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42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6" dur="42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53" presetClass="entr" presetSubtype="16" fill="hold" grpId="0" nodeType="withEffect">
                                  <p:stCondLst>
                                    <p:cond delay="1885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9" dur="42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42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1" dur="42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10" presetClass="entr" presetSubtype="0" fill="hold" grpId="0" nodeType="withEffect">
                                  <p:stCondLst>
                                    <p:cond delay="191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4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53" presetClass="entr" presetSubtype="16" fill="hold" grpId="0" nodeType="withEffect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7" dur="5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8" dur="5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9" dur="5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53" presetClass="entr" presetSubtype="16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2" dur="42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3" dur="42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4" dur="42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53" presetClass="entr" presetSubtype="16" fill="hold" nodeType="withEffect">
                                  <p:stCondLst>
                                    <p:cond delay="141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7" dur="42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8" dur="42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9" dur="42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10" presetClass="entr" presetSubtype="0" fill="hold" grpId="0" nodeType="withEffect">
                                  <p:stCondLst>
                                    <p:cond delay="152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4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10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5" dur="4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2" presetClass="entr" presetSubtype="4" fill="hold" grpId="0" nodeType="withEffect">
                                  <p:stCondLst>
                                    <p:cond delay="146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8" dur="5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9" dur="5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0" dur="5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53" presetClass="entr" presetSubtype="16" fill="hold" grpId="0" nodeType="withEffect">
                                  <p:stCondLst>
                                    <p:cond delay="173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3" dur="42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4" dur="42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5" dur="42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53" presetClass="entr" presetSubtype="16" fill="hold" nodeType="withEffect">
                                  <p:stCondLst>
                                    <p:cond delay="184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8" dur="42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9" dur="42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0" dur="42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1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3" dur="4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4" presetID="10" presetClass="entr" presetSubtype="0" fill="hold" grpId="0" nodeType="withEffect">
                                  <p:stCondLst>
                                    <p:cond delay="206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6" dur="4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7" presetID="10" presetClass="entr" presetSubtype="0" fill="hold" grpId="0" nodeType="withEffect">
                                  <p:stCondLst>
                                    <p:cond delay="189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9" dur="5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0" presetID="53" presetClass="entr" presetSubtype="16" fill="hold" grpId="0" nodeType="withEffect">
                                  <p:stCondLst>
                                    <p:cond delay="216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2" dur="42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3" dur="42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4" dur="42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5" presetID="53" presetClass="entr" presetSubtype="16" fill="hold" nodeType="withEffect">
                                  <p:stCondLst>
                                    <p:cond delay="227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7" dur="42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8" dur="42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9" dur="42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0" presetID="10" presetClass="entr" presetSubtype="0" fill="hold" grpId="0" nodeType="withEffect">
                                  <p:stCondLst>
                                    <p:cond delay="238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2" dur="4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3" presetID="10" presetClass="entr" presetSubtype="0" fill="hold" grpId="0" nodeType="withEffect">
                                  <p:stCondLst>
                                    <p:cond delay="249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5" dur="4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6" presetID="2" presetClass="entr" presetSubtype="4" fill="hold" grpId="0" nodeType="withEffect">
                                  <p:stCondLst>
                                    <p:cond delay="232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8" dur="5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9" dur="5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0" dur="5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1" presetID="10" presetClass="entr" presetSubtype="0" fill="hold" grpId="0" nodeType="withEffect">
                                  <p:stCondLst>
                                    <p:cond delay="259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3" dur="45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4" presetID="10" presetClass="entr" presetSubtype="0" fill="hold" grpId="0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6" dur="45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7" presetID="53" presetClass="entr" presetSubtype="16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9" dur="55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0" dur="55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1" dur="55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2" presetID="10" presetClass="entr" presetSubtype="0" fill="hold" grpId="0" nodeType="withEffect">
                                  <p:stCondLst>
                                    <p:cond delay="302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4" dur="45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5" presetID="10" presetClass="entr" presetSubtype="0" fill="hold" grpId="0" nodeType="withEffect">
                                  <p:stCondLst>
                                    <p:cond delay="313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7" dur="45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8" presetID="2" presetClass="entr" presetSubtype="4" fill="hold" grpId="0" nodeType="withEffect">
                                  <p:stCondLst>
                                    <p:cond delay="318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0" dur="55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1" dur="55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2" dur="55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3" presetID="10" presetClass="entr" presetSubtype="0" fill="hold" grpId="0" nodeType="withEffect">
                                  <p:stCondLst>
                                    <p:cond delay="345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5" dur="45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6" presetID="10" presetClass="entr" presetSubtype="0" fill="hold" grpId="0" nodeType="withEffect">
                                  <p:stCondLst>
                                    <p:cond delay="356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8" dur="4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4" grpId="0" animBg="1"/>
      <p:bldP spid="55" grpId="0" animBg="1"/>
      <p:bldP spid="56" grpId="0" animBg="1"/>
      <p:bldP spid="57" grpId="0" animBg="1"/>
      <p:bldP spid="59" grpId="0" animBg="1"/>
      <p:bldP spid="60" grpId="0" animBg="1"/>
      <p:bldP spid="61" grpId="0" animBg="1"/>
      <p:bldP spid="62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Five gestures, five actions</a:t>
            </a:r>
            <a:endParaRPr lang="en-US" sz="3400" dirty="0"/>
          </a:p>
        </p:txBody>
      </p:sp>
      <p:sp>
        <p:nvSpPr>
          <p:cNvPr id="4" name="Gesture row Point"/>
          <p:cNvSpPr/>
          <p:nvPr/>
        </p:nvSpPr>
        <p:spPr>
          <a:xfrm>
            <a:off x="548640" y="1463040"/>
            <a:ext cx="7315200" cy="804672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Disc Point"/>
          <p:cNvSpPr/>
          <p:nvPr/>
        </p:nvSpPr>
        <p:spPr>
          <a:xfrm>
            <a:off x="777240" y="1572768"/>
            <a:ext cx="585216" cy="585216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6" name="Icon Point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692" y="1713220"/>
            <a:ext cx="304312" cy="30431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554480" y="1463040"/>
            <a:ext cx="1737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Point</a:t>
            </a:r>
            <a:endParaRPr lang="en-US" sz="2000" dirty="0"/>
          </a:p>
        </p:txBody>
      </p:sp>
      <p:sp>
        <p:nvSpPr>
          <p:cNvPr id="8" name="Arrow"/>
          <p:cNvSpPr/>
          <p:nvPr/>
        </p:nvSpPr>
        <p:spPr>
          <a:xfrm>
            <a:off x="3200400" y="1865376"/>
            <a:ext cx="411480" cy="0"/>
          </a:xfrm>
          <a:prstGeom prst="line">
            <a:avLst/>
          </a:prstGeom>
          <a:noFill/>
          <a:ln w="28575">
            <a:solidFill>
              <a:schemeClr val="accent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9" name="Text 5"/>
          <p:cNvSpPr txBox="1"/>
          <p:nvPr/>
        </p:nvSpPr>
        <p:spPr>
          <a:xfrm>
            <a:off x="3794760" y="1463040"/>
            <a:ext cx="3931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Draw</a:t>
            </a:r>
            <a:r>
              <a:rPr lang="en-US" sz="1800" dirty="0">
                <a:solidFill>
                  <a:schemeClr val="tx2"/>
                </a:solidFill>
              </a:rPr>
              <a:t>  ·  index finger up</a:t>
            </a:r>
            <a:endParaRPr lang="en-US" sz="1800" dirty="0"/>
          </a:p>
        </p:txBody>
      </p:sp>
      <p:sp>
        <p:nvSpPr>
          <p:cNvPr id="10" name="Gesture row Pinch"/>
          <p:cNvSpPr/>
          <p:nvPr/>
        </p:nvSpPr>
        <p:spPr>
          <a:xfrm>
            <a:off x="548640" y="2377440"/>
            <a:ext cx="7315200" cy="804672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Disc Pinch"/>
          <p:cNvSpPr/>
          <p:nvPr/>
        </p:nvSpPr>
        <p:spPr>
          <a:xfrm>
            <a:off x="777240" y="2487168"/>
            <a:ext cx="585216" cy="585216"/>
          </a:xfrm>
          <a:prstGeom prst="ellipse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con Pinch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692" y="2627620"/>
            <a:ext cx="304312" cy="30431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554480" y="2377440"/>
            <a:ext cx="1737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Pinch</a:t>
            </a:r>
            <a:endParaRPr lang="en-US" sz="2000" dirty="0"/>
          </a:p>
        </p:txBody>
      </p:sp>
      <p:sp>
        <p:nvSpPr>
          <p:cNvPr id="14" name="Arrow"/>
          <p:cNvSpPr/>
          <p:nvPr/>
        </p:nvSpPr>
        <p:spPr>
          <a:xfrm>
            <a:off x="3200400" y="2779776"/>
            <a:ext cx="411480" cy="0"/>
          </a:xfrm>
          <a:prstGeom prst="line">
            <a:avLst/>
          </a:prstGeom>
          <a:noFill/>
          <a:ln w="28575">
            <a:solidFill>
              <a:schemeClr val="accent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5" name="Text 10"/>
          <p:cNvSpPr txBox="1"/>
          <p:nvPr/>
        </p:nvSpPr>
        <p:spPr>
          <a:xfrm>
            <a:off x="3794760" y="2377440"/>
            <a:ext cx="3931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Move  ·  </a:t>
            </a:r>
            <a:r>
              <a:rPr lang="en-US" sz="1800" dirty="0">
                <a:solidFill>
                  <a:schemeClr val="tx1"/>
                </a:solidFill>
              </a:rPr>
              <a:t>drag the whole drawing</a:t>
            </a:r>
            <a:endParaRPr lang="en-US" sz="1800" dirty="0"/>
          </a:p>
        </p:txBody>
      </p:sp>
      <p:sp>
        <p:nvSpPr>
          <p:cNvPr id="16" name="Gesture row Fist"/>
          <p:cNvSpPr/>
          <p:nvPr/>
        </p:nvSpPr>
        <p:spPr>
          <a:xfrm>
            <a:off x="548640" y="3291840"/>
            <a:ext cx="7315200" cy="804672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Disc Fist"/>
          <p:cNvSpPr/>
          <p:nvPr/>
        </p:nvSpPr>
        <p:spPr>
          <a:xfrm>
            <a:off x="777240" y="3401568"/>
            <a:ext cx="585216" cy="585216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8" name="Icon Fist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692" y="3542020"/>
            <a:ext cx="304312" cy="30431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554480" y="3291840"/>
            <a:ext cx="1737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Fist</a:t>
            </a:r>
            <a:endParaRPr lang="en-US" sz="2000" dirty="0"/>
          </a:p>
        </p:txBody>
      </p:sp>
      <p:sp>
        <p:nvSpPr>
          <p:cNvPr id="20" name="Arrow"/>
          <p:cNvSpPr/>
          <p:nvPr/>
        </p:nvSpPr>
        <p:spPr>
          <a:xfrm>
            <a:off x="3200400" y="3694176"/>
            <a:ext cx="411480" cy="0"/>
          </a:xfrm>
          <a:prstGeom prst="line">
            <a:avLst/>
          </a:prstGeom>
          <a:noFill/>
          <a:ln w="28575">
            <a:solidFill>
              <a:schemeClr val="accent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1" name="Text 15"/>
          <p:cNvSpPr txBox="1"/>
          <p:nvPr/>
        </p:nvSpPr>
        <p:spPr>
          <a:xfrm>
            <a:off x="3794760" y="3291840"/>
            <a:ext cx="3931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Pause</a:t>
            </a:r>
            <a:r>
              <a:rPr lang="en-US" sz="1800" dirty="0">
                <a:solidFill>
                  <a:schemeClr val="tx2"/>
                </a:solidFill>
              </a:rPr>
              <a:t>  ·  freeze the stroke</a:t>
            </a:r>
            <a:endParaRPr lang="en-US" sz="1800" dirty="0"/>
          </a:p>
        </p:txBody>
      </p:sp>
      <p:sp>
        <p:nvSpPr>
          <p:cNvPr id="22" name="Gesture row Peace"/>
          <p:cNvSpPr/>
          <p:nvPr/>
        </p:nvSpPr>
        <p:spPr>
          <a:xfrm>
            <a:off x="548640" y="4206240"/>
            <a:ext cx="7315200" cy="804672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Disc Peace"/>
          <p:cNvSpPr/>
          <p:nvPr/>
        </p:nvSpPr>
        <p:spPr>
          <a:xfrm>
            <a:off x="777240" y="4315968"/>
            <a:ext cx="585216" cy="585216"/>
          </a:xfrm>
          <a:prstGeom prst="ellipse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4" name="Icon Peace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7692" y="4456420"/>
            <a:ext cx="304312" cy="304312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554480" y="4206240"/>
            <a:ext cx="1737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Peace</a:t>
            </a:r>
            <a:endParaRPr lang="en-US" sz="2000" dirty="0"/>
          </a:p>
        </p:txBody>
      </p:sp>
      <p:sp>
        <p:nvSpPr>
          <p:cNvPr id="26" name="Arrow"/>
          <p:cNvSpPr/>
          <p:nvPr/>
        </p:nvSpPr>
        <p:spPr>
          <a:xfrm>
            <a:off x="3200400" y="4608576"/>
            <a:ext cx="411480" cy="0"/>
          </a:xfrm>
          <a:prstGeom prst="line">
            <a:avLst/>
          </a:prstGeom>
          <a:noFill/>
          <a:ln w="28575">
            <a:solidFill>
              <a:schemeClr val="accent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7" name="Text 20"/>
          <p:cNvSpPr txBox="1"/>
          <p:nvPr/>
        </p:nvSpPr>
        <p:spPr>
          <a:xfrm>
            <a:off x="3794760" y="4206240"/>
            <a:ext cx="3931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Colour</a:t>
            </a:r>
            <a:r>
              <a:rPr lang="en-US" sz="1800" dirty="0">
                <a:solidFill>
                  <a:schemeClr val="tx2"/>
                </a:solidFill>
              </a:rPr>
              <a:t>  ·  switch to next colour</a:t>
            </a:r>
            <a:endParaRPr lang="en-US" sz="1800" dirty="0"/>
          </a:p>
        </p:txBody>
      </p:sp>
      <p:sp>
        <p:nvSpPr>
          <p:cNvPr id="28" name="Gesture row Open palm"/>
          <p:cNvSpPr/>
          <p:nvPr/>
        </p:nvSpPr>
        <p:spPr>
          <a:xfrm>
            <a:off x="548640" y="5120640"/>
            <a:ext cx="7315200" cy="804672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Disc Open palm"/>
          <p:cNvSpPr/>
          <p:nvPr/>
        </p:nvSpPr>
        <p:spPr>
          <a:xfrm>
            <a:off x="777240" y="5230368"/>
            <a:ext cx="585216" cy="585216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0" name="Icon Open palm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7692" y="5370820"/>
            <a:ext cx="304312" cy="304312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1554480" y="5120640"/>
            <a:ext cx="1737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Open palm</a:t>
            </a:r>
            <a:endParaRPr lang="en-US" sz="2000" dirty="0"/>
          </a:p>
        </p:txBody>
      </p:sp>
      <p:sp>
        <p:nvSpPr>
          <p:cNvPr id="32" name="Arrow"/>
          <p:cNvSpPr/>
          <p:nvPr/>
        </p:nvSpPr>
        <p:spPr>
          <a:xfrm>
            <a:off x="3200400" y="5522976"/>
            <a:ext cx="411480" cy="0"/>
          </a:xfrm>
          <a:prstGeom prst="line">
            <a:avLst/>
          </a:prstGeom>
          <a:noFill/>
          <a:ln w="28575">
            <a:solidFill>
              <a:schemeClr val="accent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3" name="Text 25"/>
          <p:cNvSpPr txBox="1"/>
          <p:nvPr/>
        </p:nvSpPr>
        <p:spPr>
          <a:xfrm>
            <a:off x="3794760" y="5120640"/>
            <a:ext cx="3931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Clear  ·  </a:t>
            </a:r>
            <a:r>
              <a:rPr lang="en-US" sz="1800" dirty="0">
                <a:solidFill>
                  <a:schemeClr val="tx1"/>
                </a:solidFill>
              </a:rPr>
              <a:t>hold palm 150 ms</a:t>
            </a:r>
            <a:endParaRPr lang="en-US" sz="1800" dirty="0"/>
          </a:p>
        </p:txBody>
      </p:sp>
      <p:sp>
        <p:nvSpPr>
          <p:cNvPr id="34" name="Principles panel"/>
          <p:cNvSpPr/>
          <p:nvPr/>
        </p:nvSpPr>
        <p:spPr>
          <a:xfrm>
            <a:off x="8138160" y="1463040"/>
            <a:ext cx="3502152" cy="4462272"/>
          </a:xfrm>
          <a:prstGeom prst="roundRect">
            <a:avLst>
              <a:gd name="adj" fmla="val 3133"/>
            </a:avLst>
          </a:prstGeom>
          <a:solidFill>
            <a:schemeClr val="tx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Text 27"/>
          <p:cNvSpPr txBox="1"/>
          <p:nvPr/>
        </p:nvSpPr>
        <p:spPr>
          <a:xfrm>
            <a:off x="8412480" y="16916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</a:rPr>
              <a:t>Why it feels solid</a:t>
            </a:r>
            <a:endParaRPr lang="en-US" sz="2200" dirty="0"/>
          </a:p>
        </p:txBody>
      </p:sp>
      <p:sp>
        <p:nvSpPr>
          <p:cNvPr id="36" name="Text 28"/>
          <p:cNvSpPr txBox="1"/>
          <p:nvPr/>
        </p:nvSpPr>
        <p:spPr>
          <a:xfrm>
            <a:off x="8412480" y="2377440"/>
            <a:ext cx="3017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Draw and pause react instantly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Move and clear need a few steady frames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Fist, then point: same stroke continues</a:t>
            </a:r>
            <a:endParaRPr lang="en-US" sz="18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  <p:transition spd="med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87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4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4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09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31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nodeType="withEffect">
                                  <p:stCondLst>
                                    <p:cond delay="141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52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74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" presetClass="entr" presetSubtype="4" fill="hold" grpId="0" nodeType="withEffect">
                                  <p:stCondLst>
                                    <p:cond delay="14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grpId="0" nodeType="withEffect">
                                  <p:stCondLst>
                                    <p:cond delay="173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3" presetClass="entr" presetSubtype="16" fill="hold" nodeType="withEffect">
                                  <p:stCondLst>
                                    <p:cond delay="184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206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217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89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53" presetClass="entr" presetSubtype="16" fill="hold" grpId="0" nodeType="withEffect">
                                  <p:stCondLst>
                                    <p:cond delay="216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53" presetClass="entr" presetSubtype="16" fill="hold" nodeType="withEffect">
                                  <p:stCondLst>
                                    <p:cond delay="227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238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50"/>
                                        <p:tgtEl>
                                          <p:spTgt spid="25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grpId="0" nodeType="withEffect">
                                  <p:stCondLst>
                                    <p:cond delay="249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" presetClass="entr" presetSubtype="4" fill="hold" grpId="0" nodeType="withEffect">
                                  <p:stCondLst>
                                    <p:cond delay="232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5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53" presetClass="entr" presetSubtype="16" fill="hold" grpId="0" nodeType="withEffect">
                                  <p:stCondLst>
                                    <p:cond delay="259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53" presetClass="entr" presetSubtype="16" fill="hold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4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4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6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281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8" fill="hold" grpId="0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303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53" presetClass="entr" presetSubtype="16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5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0" dur="5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302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313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5" grpId="0"/>
      <p:bldP spid="26" grpId="0" animBg="1"/>
      <p:bldP spid="27" grpId="0" animBg="1"/>
      <p:bldP spid="28" grpId="0" animBg="1"/>
      <p:bldP spid="29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Code: capture and hand tracking</a:t>
            </a:r>
            <a:endParaRPr lang="en-US" sz="3400" dirty="0"/>
          </a:p>
        </p:txBody>
      </p:sp>
      <p:sp>
        <p:nvSpPr>
          <p:cNvPr id="11" name="Text 3"/>
          <p:cNvSpPr txBox="1"/>
          <p:nvPr/>
        </p:nvSpPr>
        <p:spPr>
          <a:xfrm>
            <a:off x="54864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MediaPipe  ·  app/hand_tracker.py</a:t>
            </a:r>
            <a:endParaRPr lang="en-US" sz="1800" dirty="0"/>
          </a:p>
        </p:txBody>
      </p:sp>
      <p:pic>
        <p:nvPicPr>
          <p:cNvPr id="12" name="Code hand.png" descr="h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5486400" cy="1834179"/>
          </a:xfrm>
          <a:prstGeom prst="rect">
            <a:avLst/>
          </a:prstGeom>
        </p:spPr>
      </p:pic>
      <p:sp>
        <p:nvSpPr>
          <p:cNvPr id="13" name="Text 2"/>
          <p:cNvSpPr txBox="1"/>
          <p:nvPr/>
        </p:nvSpPr>
        <p:spPr>
          <a:xfrm>
            <a:off x="548640" y="3845858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Hand Landmarker runs in VIDEO mode for one hand. The 0.7 / 0.6 confidence values come from config.py.</a:t>
            </a:r>
            <a:endParaRPr lang="en-US" sz="2000" dirty="0"/>
          </a:p>
        </p:txBody>
      </p:sp>
      <p:sp>
        <p:nvSpPr>
          <p:cNvPr id="14" name="Text 3"/>
          <p:cNvSpPr txBox="1"/>
          <p:nvPr/>
        </p:nvSpPr>
        <p:spPr>
          <a:xfrm>
            <a:off x="6309360" y="13716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OpenCV  ·  app/camera.py</a:t>
            </a:r>
            <a:endParaRPr lang="en-US" sz="1800" dirty="0"/>
          </a:p>
        </p:txBody>
      </p:sp>
      <p:pic>
        <p:nvPicPr>
          <p:cNvPr id="15" name="Code cam.png" descr="c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828800"/>
            <a:ext cx="5303520" cy="1592070"/>
          </a:xfrm>
          <a:prstGeom prst="rect">
            <a:avLst/>
          </a:prstGeom>
        </p:spPr>
      </p:pic>
      <p:sp>
        <p:nvSpPr>
          <p:cNvPr id="16" name="Text 2"/>
          <p:cNvSpPr txBox="1"/>
          <p:nvPr/>
        </p:nvSpPr>
        <p:spPr>
          <a:xfrm>
            <a:off x="6309360" y="360375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cv2.VideoCapture opens the webcam, falls back to the default backend, and raises CameraError if no camera is found. Resolution and FPS are set right after with cap.set().</a:t>
            </a:r>
            <a:endParaRPr lang="en-US" sz="2000" dirty="0"/>
          </a:p>
        </p:txBody>
      </p:sp>
      <p:sp>
        <p:nvSpPr>
          <p:cNvPr id="17" name="Text 3"/>
          <p:cNvSpPr txBox="1"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Both run on background threads (ThreadedCamera, ThreadedTracker), so drawing never waits for the webcam.</a:t>
            </a:r>
            <a:endParaRPr lang="en-US" sz="1800" dirty="0"/>
          </a:p>
        </p:txBody>
      </p:sp>
      <p:sp>
        <p:nvSpPr>
          <p:cNvPr id="1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24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Making lines smooth</a:t>
            </a:r>
            <a:endParaRPr lang="en-US" sz="3400" dirty="0"/>
          </a:p>
        </p:txBody>
      </p:sp>
      <p:sp>
        <p:nvSpPr>
          <p:cNvPr id="4" name="Chart panel"/>
          <p:cNvSpPr/>
          <p:nvPr/>
        </p:nvSpPr>
        <p:spPr>
          <a:xfrm>
            <a:off x="548640" y="1463040"/>
            <a:ext cx="7040880" cy="4480560"/>
          </a:xfrm>
          <a:prstGeom prst="roundRect">
            <a:avLst>
              <a:gd name="adj" fmla="val 2449"/>
            </a:avLst>
          </a:prstGeom>
          <a:solidFill>
            <a:schemeClr val="bg2"/>
          </a:solidFill>
          <a:ln/>
        </p:spPr>
      </p:sp>
      <p:graphicFrame>
        <p:nvGraphicFramePr>
          <p:cNvPr id="5" name="Smoothing chart"/>
          <p:cNvGraphicFramePr/>
          <p:nvPr/>
        </p:nvGraphicFramePr>
        <p:xfrm>
          <a:off x="731520" y="1600200"/>
          <a:ext cx="667512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777240" y="5577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Illustration only</a:t>
            </a:r>
            <a:endParaRPr lang="en-US" sz="1200" dirty="0"/>
          </a:p>
        </p:txBody>
      </p:sp>
      <p:sp>
        <p:nvSpPr>
          <p:cNvPr id="7" name="Smooth step 1"/>
          <p:cNvSpPr/>
          <p:nvPr/>
        </p:nvSpPr>
        <p:spPr>
          <a:xfrm>
            <a:off x="7863840" y="1463040"/>
            <a:ext cx="3776472" cy="1005840"/>
          </a:xfrm>
          <a:prstGeom prst="roundRect">
            <a:avLst>
              <a:gd name="adj" fmla="val 10909"/>
            </a:avLst>
          </a:prstGeom>
          <a:solidFill>
            <a:schemeClr val="accent1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8092440" y="16002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One Euro filter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8092440" y="199339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calms hand shake</a:t>
            </a:r>
            <a:endParaRPr lang="en-US" sz="1600" dirty="0"/>
          </a:p>
        </p:txBody>
      </p:sp>
      <p:sp>
        <p:nvSpPr>
          <p:cNvPr id="10" name="Smooth step 2"/>
          <p:cNvSpPr/>
          <p:nvPr/>
        </p:nvSpPr>
        <p:spPr>
          <a:xfrm>
            <a:off x="7863840" y="2606040"/>
            <a:ext cx="3776472" cy="1005840"/>
          </a:xfrm>
          <a:prstGeom prst="roundRect">
            <a:avLst>
              <a:gd name="adj" fmla="val 10909"/>
            </a:avLst>
          </a:prstGeom>
          <a:solidFill>
            <a:schemeClr val="accent5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8092440" y="27432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Curve fitting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8092440" y="313639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fills gaps, no jagged corners</a:t>
            </a:r>
            <a:endParaRPr lang="en-US" sz="1600" dirty="0"/>
          </a:p>
        </p:txBody>
      </p:sp>
      <p:sp>
        <p:nvSpPr>
          <p:cNvPr id="13" name="Smooth step 3"/>
          <p:cNvSpPr/>
          <p:nvPr/>
        </p:nvSpPr>
        <p:spPr>
          <a:xfrm>
            <a:off x="7863840" y="3749040"/>
            <a:ext cx="3776472" cy="1005840"/>
          </a:xfrm>
          <a:prstGeom prst="roundRect">
            <a:avLst>
              <a:gd name="adj" fmla="val 10909"/>
            </a:avLst>
          </a:prstGeom>
          <a:solidFill>
            <a:schemeClr val="accent2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8092440" y="38862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Spike trim</a:t>
            </a:r>
            <a:endParaRPr lang="en-US" sz="2000" dirty="0"/>
          </a:p>
        </p:txBody>
      </p:sp>
      <p:sp>
        <p:nvSpPr>
          <p:cNvPr id="15" name="Text 11"/>
          <p:cNvSpPr txBox="1"/>
          <p:nvPr/>
        </p:nvSpPr>
        <p:spPr>
          <a:xfrm>
            <a:off x="8092440" y="427939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removes hooks at stroke ends</a:t>
            </a:r>
            <a:endParaRPr lang="en-US" sz="1600" dirty="0"/>
          </a:p>
        </p:txBody>
      </p:sp>
      <p:sp>
        <p:nvSpPr>
          <p:cNvPr id="16" name="Smooth step 4"/>
          <p:cNvSpPr/>
          <p:nvPr/>
        </p:nvSpPr>
        <p:spPr>
          <a:xfrm>
            <a:off x="7863840" y="4892040"/>
            <a:ext cx="3776472" cy="1005840"/>
          </a:xfrm>
          <a:prstGeom prst="roundRect">
            <a:avLst>
              <a:gd name="adj" fmla="val 10909"/>
            </a:avLst>
          </a:prstGeom>
          <a:solidFill>
            <a:schemeClr val="accent6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8092440" y="50292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Saved as vectors</a:t>
            </a:r>
            <a:endParaRPr lang="en-US" sz="2000" dirty="0"/>
          </a:p>
        </p:txBody>
      </p:sp>
      <p:sp>
        <p:nvSpPr>
          <p:cNvPr id="18" name="Text 14"/>
          <p:cNvSpPr txBox="1"/>
          <p:nvPr/>
        </p:nvSpPr>
        <p:spPr>
          <a:xfrm>
            <a:off x="8092440" y="542239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stays sharp when zoomed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87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grpId="0" nodeType="withEffect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41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146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73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84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89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216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27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" presetClass="entr" presetSubtype="4" fill="hold" grpId="0" nodeType="withEffect">
                                  <p:stCondLst>
                                    <p:cond delay="232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259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Graphic spid="5" grpId="0">
        <p:bldAsOne/>
      </p:bldGraphic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System architecture</a:t>
            </a:r>
            <a:endParaRPr lang="en-US" sz="3400" dirty="0"/>
          </a:p>
        </p:txBody>
      </p:sp>
      <p:sp>
        <p:nvSpPr>
          <p:cNvPr id="4" name="Pipeline Webcam"/>
          <p:cNvSpPr/>
          <p:nvPr/>
        </p:nvSpPr>
        <p:spPr>
          <a:xfrm>
            <a:off x="548640" y="1508760"/>
            <a:ext cx="1581912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58368" y="16916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Webcam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58368" y="23317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camera thread</a:t>
            </a:r>
            <a:endParaRPr lang="en-US" sz="1600" dirty="0"/>
          </a:p>
        </p:txBody>
      </p:sp>
      <p:sp>
        <p:nvSpPr>
          <p:cNvPr id="7" name="Arrow"/>
          <p:cNvSpPr/>
          <p:nvPr/>
        </p:nvSpPr>
        <p:spPr>
          <a:xfrm>
            <a:off x="2130552" y="2286000"/>
            <a:ext cx="320040" cy="0"/>
          </a:xfrm>
          <a:prstGeom prst="line">
            <a:avLst/>
          </a:prstGeom>
          <a:noFill/>
          <a:ln w="2857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8" name="Pipeline Hand tracker"/>
          <p:cNvSpPr/>
          <p:nvPr/>
        </p:nvSpPr>
        <p:spPr>
          <a:xfrm>
            <a:off x="2450592" y="1508760"/>
            <a:ext cx="1581912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560320" y="16916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Hand tracker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2560320" y="23317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MediaPipe</a:t>
            </a:r>
            <a:endParaRPr lang="en-US" sz="1600" dirty="0"/>
          </a:p>
        </p:txBody>
      </p:sp>
      <p:sp>
        <p:nvSpPr>
          <p:cNvPr id="11" name="Arrow"/>
          <p:cNvSpPr/>
          <p:nvPr/>
        </p:nvSpPr>
        <p:spPr>
          <a:xfrm>
            <a:off x="4032504" y="2286000"/>
            <a:ext cx="320040" cy="0"/>
          </a:xfrm>
          <a:prstGeom prst="line">
            <a:avLst/>
          </a:prstGeom>
          <a:noFill/>
          <a:ln w="2857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2" name="Pipeline Pen"/>
          <p:cNvSpPr/>
          <p:nvPr/>
        </p:nvSpPr>
        <p:spPr>
          <a:xfrm>
            <a:off x="4352544" y="1508760"/>
            <a:ext cx="1581912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462272" y="16916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Pen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4462272" y="23317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smoothing</a:t>
            </a:r>
            <a:endParaRPr lang="en-US" sz="1600" dirty="0"/>
          </a:p>
        </p:txBody>
      </p:sp>
      <p:sp>
        <p:nvSpPr>
          <p:cNvPr id="15" name="Arrow"/>
          <p:cNvSpPr/>
          <p:nvPr/>
        </p:nvSpPr>
        <p:spPr>
          <a:xfrm>
            <a:off x="5934456" y="2286000"/>
            <a:ext cx="320040" cy="0"/>
          </a:xfrm>
          <a:prstGeom prst="line">
            <a:avLst/>
          </a:prstGeom>
          <a:noFill/>
          <a:ln w="2857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6" name="Pipeline Gestures"/>
          <p:cNvSpPr/>
          <p:nvPr/>
        </p:nvSpPr>
        <p:spPr>
          <a:xfrm>
            <a:off x="6254496" y="1508760"/>
            <a:ext cx="1581912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364224" y="16916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Gestures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364224" y="23317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classifier</a:t>
            </a:r>
            <a:endParaRPr lang="en-US" sz="1600" dirty="0"/>
          </a:p>
        </p:txBody>
      </p:sp>
      <p:sp>
        <p:nvSpPr>
          <p:cNvPr id="19" name="Arrow"/>
          <p:cNvSpPr/>
          <p:nvPr/>
        </p:nvSpPr>
        <p:spPr>
          <a:xfrm>
            <a:off x="7836408" y="2286000"/>
            <a:ext cx="320040" cy="0"/>
          </a:xfrm>
          <a:prstGeom prst="line">
            <a:avLst/>
          </a:prstGeom>
          <a:noFill/>
          <a:ln w="2857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0" name="Pipeline Workspace"/>
          <p:cNvSpPr/>
          <p:nvPr/>
        </p:nvSpPr>
        <p:spPr>
          <a:xfrm>
            <a:off x="8156448" y="1508760"/>
            <a:ext cx="1581912" cy="1554480"/>
          </a:xfrm>
          <a:prstGeom prst="roundRect">
            <a:avLst>
              <a:gd name="adj" fmla="val 7059"/>
            </a:avLst>
          </a:prstGeom>
          <a:solidFill>
            <a:schemeClr val="accent1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8266176" y="16916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Workspace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8266176" y="23317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drawing + undo</a:t>
            </a:r>
            <a:endParaRPr lang="en-US" sz="1600" dirty="0"/>
          </a:p>
        </p:txBody>
      </p:sp>
      <p:sp>
        <p:nvSpPr>
          <p:cNvPr id="23" name="Arrow"/>
          <p:cNvSpPr/>
          <p:nvPr/>
        </p:nvSpPr>
        <p:spPr>
          <a:xfrm>
            <a:off x="9738360" y="2286000"/>
            <a:ext cx="320040" cy="0"/>
          </a:xfrm>
          <a:prstGeom prst="line">
            <a:avLst/>
          </a:prstGeom>
          <a:noFill/>
          <a:ln w="2857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4" name="Pipeline Renderer"/>
          <p:cNvSpPr/>
          <p:nvPr/>
        </p:nvSpPr>
        <p:spPr>
          <a:xfrm>
            <a:off x="10058400" y="1508760"/>
            <a:ext cx="1581912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10168128" y="16916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Renderer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10168128" y="23317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OpenCV window</a:t>
            </a:r>
            <a:endParaRPr lang="en-US" sz="1600" dirty="0"/>
          </a:p>
        </p:txBody>
      </p:sp>
      <p:sp>
        <p:nvSpPr>
          <p:cNvPr id="27" name="Event bus"/>
          <p:cNvSpPr/>
          <p:nvPr/>
        </p:nvSpPr>
        <p:spPr>
          <a:xfrm>
            <a:off x="548640" y="3474720"/>
            <a:ext cx="11091672" cy="822960"/>
          </a:xfrm>
          <a:prstGeom prst="roundRect">
            <a:avLst>
              <a:gd name="adj" fmla="val 13333"/>
            </a:avLst>
          </a:prstGeom>
          <a:solidFill>
            <a:schemeClr val="accent5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548640" y="34747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Event Bus  —  parts talk through events</a:t>
            </a:r>
            <a:endParaRPr lang="en-US" sz="2200" dirty="0"/>
          </a:p>
        </p:txBody>
      </p:sp>
      <p:sp>
        <p:nvSpPr>
          <p:cNvPr id="29" name="Support main.py"/>
          <p:cNvSpPr/>
          <p:nvPr/>
        </p:nvSpPr>
        <p:spPr>
          <a:xfrm>
            <a:off x="548640" y="4663440"/>
            <a:ext cx="356616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777240" y="4846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main.py</a:t>
            </a:r>
            <a:endParaRPr lang="en-US" sz="2000" dirty="0"/>
          </a:p>
        </p:txBody>
      </p:sp>
      <p:sp>
        <p:nvSpPr>
          <p:cNvPr id="31" name="Text 28"/>
          <p:cNvSpPr txBox="1"/>
          <p:nvPr/>
        </p:nvSpPr>
        <p:spPr>
          <a:xfrm>
            <a:off x="777240" y="5303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runs the main loop</a:t>
            </a:r>
            <a:endParaRPr lang="en-US" sz="1800" dirty="0"/>
          </a:p>
        </p:txBody>
      </p:sp>
      <p:sp>
        <p:nvSpPr>
          <p:cNvPr id="32" name="Support Plugin manager"/>
          <p:cNvSpPr/>
          <p:nvPr/>
        </p:nvSpPr>
        <p:spPr>
          <a:xfrm>
            <a:off x="4311396" y="4663440"/>
            <a:ext cx="356616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4539996" y="4846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Plugin manager</a:t>
            </a:r>
            <a:endParaRPr lang="en-US" sz="2000" dirty="0"/>
          </a:p>
        </p:txBody>
      </p:sp>
      <p:sp>
        <p:nvSpPr>
          <p:cNvPr id="34" name="Text 31"/>
          <p:cNvSpPr txBox="1"/>
          <p:nvPr/>
        </p:nvSpPr>
        <p:spPr>
          <a:xfrm>
            <a:off x="4539996" y="5303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loads add-ons</a:t>
            </a:r>
            <a:endParaRPr lang="en-US" sz="1800" dirty="0"/>
          </a:p>
        </p:txBody>
      </p:sp>
      <p:sp>
        <p:nvSpPr>
          <p:cNvPr id="35" name="Support config.py"/>
          <p:cNvSpPr/>
          <p:nvPr/>
        </p:nvSpPr>
        <p:spPr>
          <a:xfrm>
            <a:off x="8074152" y="4663440"/>
            <a:ext cx="356616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8302752" y="4846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config.py</a:t>
            </a:r>
            <a:endParaRPr lang="en-US" sz="2000" dirty="0"/>
          </a:p>
        </p:txBody>
      </p:sp>
      <p:sp>
        <p:nvSpPr>
          <p:cNvPr id="37" name="Text 34"/>
          <p:cNvSpPr txBox="1"/>
          <p:nvPr/>
        </p:nvSpPr>
        <p:spPr>
          <a:xfrm>
            <a:off x="8302752" y="5303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settings and tuning</a:t>
            </a:r>
            <a:endParaRPr lang="en-US" sz="18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  <p:transition spd="med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87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4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47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5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" presetClass="entr" presetSubtype="4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07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21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" presetClass="entr" presetSubtype="4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267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278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" presetClass="entr" presetSubtype="4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327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338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" presetClass="entr" presetSubtype="4" fill="hold" grpId="0" nodeType="with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387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50"/>
                                        <p:tgtEl>
                                          <p:spTgt spid="25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398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417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" presetClass="entr" presetSubtype="4" fill="hold" grpId="0" nodeType="with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447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458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53" presetClass="entr" presetSubtype="16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5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5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477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488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" presetClass="entr" presetSubtype="4" fill="hold" grpId="0" nodeType="withEffect">
                                  <p:stCondLst>
                                    <p:cond delay="48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5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507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518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Code: smoothing and OCR</a:t>
            </a:r>
            <a:endParaRPr lang="en-US" sz="3400" dirty="0"/>
          </a:p>
        </p:txBody>
      </p:sp>
      <p:sp>
        <p:nvSpPr>
          <p:cNvPr id="11" name="Text 3"/>
          <p:cNvSpPr txBox="1"/>
          <p:nvPr/>
        </p:nvSpPr>
        <p:spPr>
          <a:xfrm>
            <a:off x="548640" y="13716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One Euro filter  ·  app/virtual_pen.py</a:t>
            </a:r>
            <a:endParaRPr lang="en-US" sz="1800" dirty="0"/>
          </a:p>
        </p:txBody>
      </p:sp>
      <p:pic>
        <p:nvPicPr>
          <p:cNvPr id="12" name="Code pen.png" descr="p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4206240" cy="2638233"/>
          </a:xfrm>
          <a:prstGeom prst="rect">
            <a:avLst/>
          </a:prstGeom>
        </p:spPr>
      </p:pic>
      <p:sp>
        <p:nvSpPr>
          <p:cNvPr id="13" name="Text 3"/>
          <p:cNvSpPr txBox="1"/>
          <p:nvPr/>
        </p:nvSpPr>
        <p:spPr>
          <a:xfrm>
            <a:off x="5212080" y="1371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How a fingertip becomes a smooth pen</a:t>
            </a:r>
            <a:endParaRPr lang="en-US" sz="1800" dirty="0"/>
          </a:p>
        </p:txBody>
      </p:sp>
      <p:sp>
        <p:nvSpPr>
          <p:cNvPr id="14" name="Text 2"/>
          <p:cNvSpPr txBox="1"/>
          <p:nvPr/>
        </p:nvSpPr>
        <p:spPr>
          <a:xfrm>
            <a:off x="5212080" y="1828800"/>
            <a:ext cx="6400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9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1. Dead zone: moves under 2 px are ignored, so a still hand does not jitter.</a:t>
            </a:r>
            <a:endParaRPr lang="en-US" sz="20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2. One Euro filter: heavy smoothing when slow, quick reaction when fast (min_cutoff 0.5, beta 0.01).</a:t>
            </a:r>
            <a:endParaRPr lang="en-US" sz="20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3. Prediction: the point is pushed ahead by 15 ms to hide lag.</a:t>
            </a:r>
            <a:endParaRPr lang="en-US" sz="2000" dirty="0"/>
          </a:p>
        </p:txBody>
      </p:sp>
      <p:sp>
        <p:nvSpPr>
          <p:cNvPr id="15" name="Text 3"/>
          <p:cNvSpPr txBox="1"/>
          <p:nvPr/>
        </p:nvSpPr>
        <p:spPr>
          <a:xfrm>
            <a:off x="548640" y="4572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pytesseract  ·  app/services/providers.py</a:t>
            </a:r>
            <a:endParaRPr lang="en-US" sz="1800" dirty="0"/>
          </a:p>
        </p:txBody>
      </p:sp>
      <p:pic>
        <p:nvPicPr>
          <p:cNvPr id="16" name="Code ocr.png" descr="oc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983480"/>
            <a:ext cx="7680960" cy="1172058"/>
          </a:xfrm>
          <a:prstGeom prst="rect">
            <a:avLst/>
          </a:prstGeom>
        </p:spPr>
      </p:pic>
      <p:sp>
        <p:nvSpPr>
          <p:cNvPr id="17" name="Text 2"/>
          <p:cNvSpPr txBox="1"/>
          <p:nvPr/>
        </p:nvSpPr>
        <p:spPr>
          <a:xfrm>
            <a:off x="8503920" y="50292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Tesseract reads each OpenCV-cleaned version of the selection. The best-scoring text is kept.</a:t>
            </a:r>
            <a:endParaRPr lang="en-US" sz="2000" dirty="0"/>
          </a:p>
        </p:txBody>
      </p:sp>
      <p:sp>
        <p:nvSpPr>
          <p:cNvPr id="1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24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1" grpId="0" animBg="1"/>
      <p:bldP spid="13" grpId="0" animBg="1"/>
      <p:bldP spid="14" grpId="0" animBg="1"/>
      <p:bldP spid="15" grpId="0" animBg="1"/>
      <p:bldP spid="1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737360"/>
            <a:ext cx="6583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0" b="1" dirty="0">
                <a:solidFill>
                  <a:schemeClr val="bg1"/>
                </a:solidFill>
              </a:rPr>
              <a:t>Thank you</a:t>
            </a:r>
            <a:endParaRPr lang="en-US" sz="6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10896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chemeClr val="accent1"/>
                </a:solidFill>
              </a:rPr>
              <a:t>Questions and live demo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77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i="1" dirty="0">
                <a:solidFill>
                  <a:srgbClr val="FFCB5C"/>
                </a:solidFill>
              </a:rPr>
              <a:t>Think. Sketch. Create.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029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bg2"/>
                </a:solidFill>
              </a:rPr>
              <a:t>github.com/ekashastri/Python-Project</a:t>
            </a:r>
            <a:endParaRPr lang="en-US" sz="1800" dirty="0"/>
          </a:p>
        </p:txBody>
      </p:sp>
      <p:sp>
        <p:nvSpPr>
          <p:cNvPr id="6" name="Closing disc FaHandPointer"/>
          <p:cNvSpPr/>
          <p:nvPr/>
        </p:nvSpPr>
        <p:spPr>
          <a:xfrm>
            <a:off x="7040880" y="224028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7" name="Closing icon FaHandPointer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2423160"/>
            <a:ext cx="411480" cy="411480"/>
          </a:xfrm>
          <a:prstGeom prst="rect">
            <a:avLst/>
          </a:prstGeom>
        </p:spPr>
      </p:pic>
      <p:sp>
        <p:nvSpPr>
          <p:cNvPr id="8" name="Closing disc FaHandLizard"/>
          <p:cNvSpPr/>
          <p:nvPr/>
        </p:nvSpPr>
        <p:spPr>
          <a:xfrm>
            <a:off x="8001000" y="2240280"/>
            <a:ext cx="777240" cy="777240"/>
          </a:xfrm>
          <a:prstGeom prst="ellipse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9" name="Closing icon FaHandLizard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80" y="2423160"/>
            <a:ext cx="411480" cy="411480"/>
          </a:xfrm>
          <a:prstGeom prst="rect">
            <a:avLst/>
          </a:prstGeom>
        </p:spPr>
      </p:pic>
      <p:sp>
        <p:nvSpPr>
          <p:cNvPr id="10" name="Closing disc FaHandRock"/>
          <p:cNvSpPr/>
          <p:nvPr/>
        </p:nvSpPr>
        <p:spPr>
          <a:xfrm>
            <a:off x="8961120" y="2240280"/>
            <a:ext cx="777240" cy="77724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1" name="Closing icon FaHandRock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0" y="2423160"/>
            <a:ext cx="411480" cy="411480"/>
          </a:xfrm>
          <a:prstGeom prst="rect">
            <a:avLst/>
          </a:prstGeom>
        </p:spPr>
      </p:pic>
      <p:sp>
        <p:nvSpPr>
          <p:cNvPr id="12" name="Closing disc FaHandPeace"/>
          <p:cNvSpPr/>
          <p:nvPr/>
        </p:nvSpPr>
        <p:spPr>
          <a:xfrm>
            <a:off x="9921240" y="2240280"/>
            <a:ext cx="777240" cy="777240"/>
          </a:xfrm>
          <a:prstGeom prst="ellipse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3" name="Closing icon FaHandPeace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04120" y="2423160"/>
            <a:ext cx="411480" cy="411480"/>
          </a:xfrm>
          <a:prstGeom prst="rect">
            <a:avLst/>
          </a:prstGeom>
        </p:spPr>
      </p:pic>
      <p:sp>
        <p:nvSpPr>
          <p:cNvPr id="14" name="Closing disc FaHandPaper"/>
          <p:cNvSpPr/>
          <p:nvPr/>
        </p:nvSpPr>
        <p:spPr>
          <a:xfrm>
            <a:off x="10881360" y="224028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5" name="Closing icon FaHandPaper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64240" y="2423160"/>
            <a:ext cx="411480" cy="41148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4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89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216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232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259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nodeType="withEffect">
                                  <p:stCondLst>
                                    <p:cond delay="302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31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nodeType="withEffect">
                                  <p:stCondLst>
                                    <p:cond delay="34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361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nodeType="withEffect">
                                  <p:stCondLst>
                                    <p:cond delay="388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8" grpId="0" animBg="1"/>
      <p:bldP spid="10" grpId="0" animBg="1"/>
      <p:bldP spid="12" grpId="0" animBg="1"/>
      <p:bldP spid="14" grpId="0" animBg="1"/>
    </p:bldLst>
  </p:timing>
</p:sld>
</file>

<file path=ppt/theme/theme1.xml><?xml version="1.0" encoding="utf-8"?>
<a:theme xmlns:a="http://schemas.openxmlformats.org/drawingml/2006/main" name="Ekora Ink">
  <a:themeElements>
    <a:clrScheme name="Ekora Ink">
      <a:dk1>
        <a:srgbClr val="12152B"/>
      </a:dk1>
      <a:lt1>
        <a:srgbClr val="FFFFFF"/>
      </a:lt1>
      <a:dk2>
        <a:srgbClr val="2A2F55"/>
      </a:dk2>
      <a:lt2>
        <a:srgbClr val="F1F4FB"/>
      </a:lt2>
      <a:accent1>
        <a:srgbClr val="2F7BF0"/>
      </a:accent1>
      <a:accent2>
        <a:srgbClr val="F2506A"/>
      </a:accent2>
      <a:accent3>
        <a:srgbClr val="1FAF6B"/>
      </a:accent3>
      <a:accent4>
        <a:srgbClr val="F5A300"/>
      </a:accent4>
      <a:accent5>
        <a:srgbClr val="7B61F0"/>
      </a:accent5>
      <a:accent6>
        <a:srgbClr val="5B6485"/>
      </a:accent6>
      <a:hlink>
        <a:srgbClr val="2F7BF0"/>
      </a:hlink>
      <a:folHlink>
        <a:srgbClr val="7B61F0"/>
      </a:folHlink>
    </a:clrScheme>
    <a:fontScheme name="Ekora In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796</Words>
  <Application>Microsoft Office PowerPoint</Application>
  <PresentationFormat>Widescreen</PresentationFormat>
  <Paragraphs>144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Ekora Ink</vt:lpstr>
      <vt:lpstr>Ekora</vt:lpstr>
      <vt:lpstr>What is Ekora?</vt:lpstr>
      <vt:lpstr>Libraries used, and where</vt:lpstr>
      <vt:lpstr>Tracking your hand</vt:lpstr>
      <vt:lpstr>Five gestures, five actions</vt:lpstr>
      <vt:lpstr>Code: capture and hand tracking</vt:lpstr>
      <vt:lpstr>Making lines smooth</vt:lpstr>
      <vt:lpstr>System architecture</vt:lpstr>
      <vt:lpstr>Code: smoothing and OCR</vt:lpstr>
      <vt:lpstr>Thank you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Ekora - AI-Assisted Gesture Drawing Workspace</dc:title>
  <dc:subject>PptxGenJS Presentation</dc:subject>
  <dc:creator>PptxGenJS</dc:creator>
  <cp:lastModifiedBy>Eka Shastri</cp:lastModifiedBy>
  <cp:revision>3</cp:revision>
  <dcterms:created xsi:type="dcterms:W3CDTF">2026-10-04T02:29:37Z</dcterms:created>
  <dcterms:modified xsi:type="dcterms:W3CDTF">2026-10-08T06:03:36Z</dcterms:modified>
</cp:coreProperties>
</file>